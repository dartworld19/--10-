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9144000" cy="5143500" type="screen16x9"/>
  <p:notesSz cx="6858000" cy="9144000"/>
  <p:embeddedFontLst>
    <p:embeddedFont>
      <p:font typeface="Roboto Mono" panose="020B0604020202020204" charset="0"/>
      <p:regular r:id="rId17"/>
      <p:bold r:id="rId18"/>
      <p:italic r:id="rId19"/>
      <p:boldItalic r:id="rId20"/>
    </p:embeddedFont>
    <p:embeddedFont>
      <p:font typeface="Calibri" panose="020F0502020204030204" pitchFamily="3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5" roundtripDataSignature="AMtx7midLD28k4lLANPNTkK6nIfpNxlP6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49541A1-EC09-42E9-8AD2-F4AEE8F2B24E}">
  <a:tblStyle styleId="{F49541A1-EC09-42E9-8AD2-F4AEE8F2B24E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tcBdr/>
        <a:fill>
          <a:solidFill>
            <a:srgbClr val="CDD4EA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DD4EA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72" y="9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11" name="Google Shape;51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7" name="Google Shape;53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38" name="Google Shape;538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1" name="Google Shape;56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62" name="Google Shape;562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7" name="Google Shape;57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78" name="Google Shape;578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1" name="Google Shape;56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62" name="Google Shape;562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57507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9" name="Google Shape;589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90" name="Google Shape;590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0" name="Google Shape;62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21" name="Google Shape;621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9" name="Google Shape;639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40" name="Google Shape;640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1" name="Google Shape;66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62" name="Google Shape;662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78" name="Google Shape;67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95" name="Google Shape;69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04" name="Google Shape;70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14" name="Google Shape;71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35" name="Google Shape;73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/>
          <p:nvPr/>
        </p:nvSpPr>
        <p:spPr>
          <a:xfrm>
            <a:off x="-16990" y="-5686"/>
            <a:ext cx="9160990" cy="5149186"/>
          </a:xfrm>
          <a:prstGeom prst="rect">
            <a:avLst/>
          </a:prstGeom>
          <a:gradFill>
            <a:gsLst>
              <a:gs pos="0">
                <a:srgbClr val="0C056D"/>
              </a:gs>
              <a:gs pos="44000">
                <a:srgbClr val="0C056D"/>
              </a:gs>
              <a:gs pos="100000">
                <a:srgbClr val="590D82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spc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5"/>
          <p:cNvSpPr txBox="1"/>
          <p:nvPr/>
        </p:nvSpPr>
        <p:spPr>
          <a:xfrm>
            <a:off x="8590966" y="4774705"/>
            <a:ext cx="450804" cy="230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fld id="{00000000-1234-1234-1234-123412341234}" type="slidenum">
              <a:rPr lang="ru-RU" sz="1050" b="0" i="0" u="none" strike="noStrike" cap="none" spc="0">
                <a:solidFill>
                  <a:srgbClr val="F25D9C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 b="0" i="0" u="none" strike="noStrike" cap="none" spc="0">
              <a:solidFill>
                <a:srgbClr val="F25D9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" name="Google Shape;14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28560" y="137993"/>
            <a:ext cx="1402964" cy="32465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" name="Google Shape;15;p15"/>
          <p:cNvGrpSpPr/>
          <p:nvPr/>
        </p:nvGrpSpPr>
        <p:grpSpPr>
          <a:xfrm>
            <a:off x="254791" y="670273"/>
            <a:ext cx="8615773" cy="3797268"/>
            <a:chOff x="731520" y="670560"/>
            <a:chExt cx="8075850" cy="3559305"/>
          </a:xfrm>
        </p:grpSpPr>
        <p:grpSp>
          <p:nvGrpSpPr>
            <p:cNvPr id="16" name="Google Shape;16;p15"/>
            <p:cNvGrpSpPr/>
            <p:nvPr/>
          </p:nvGrpSpPr>
          <p:grpSpPr>
            <a:xfrm>
              <a:off x="731520" y="670560"/>
              <a:ext cx="8075850" cy="50800"/>
              <a:chOff x="731520" y="670560"/>
              <a:chExt cx="8075850" cy="50800"/>
            </a:xfrm>
          </p:grpSpPr>
          <p:sp>
            <p:nvSpPr>
              <p:cNvPr id="17" name="Google Shape;17;p15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" name="Google Shape;18;p15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19;p15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20;p15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21;p15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22;p15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23;p15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" name="Google Shape;24;p15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" name="Google Shape;25;p15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26;p15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" name="Google Shape;27;p15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" name="Google Shape;28;p15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9" name="Google Shape;29;p15"/>
            <p:cNvGrpSpPr/>
            <p:nvPr/>
          </p:nvGrpSpPr>
          <p:grpSpPr>
            <a:xfrm>
              <a:off x="731520" y="1354300"/>
              <a:ext cx="8075850" cy="50800"/>
              <a:chOff x="731520" y="670560"/>
              <a:chExt cx="8075850" cy="50800"/>
            </a:xfrm>
          </p:grpSpPr>
          <p:sp>
            <p:nvSpPr>
              <p:cNvPr id="30" name="Google Shape;30;p15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" name="Google Shape;31;p15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" name="Google Shape;32;p15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" name="Google Shape;33;p15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" name="Google Shape;34;p15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" name="Google Shape;35;p15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" name="Google Shape;36;p15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" name="Google Shape;37;p15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" name="Google Shape;38;p15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" name="Google Shape;39;p15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" name="Google Shape;40;p15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" name="Google Shape;41;p15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2" name="Google Shape;42;p15"/>
            <p:cNvGrpSpPr/>
            <p:nvPr/>
          </p:nvGrpSpPr>
          <p:grpSpPr>
            <a:xfrm>
              <a:off x="731520" y="2062754"/>
              <a:ext cx="8075850" cy="50800"/>
              <a:chOff x="731520" y="670560"/>
              <a:chExt cx="8075850" cy="50800"/>
            </a:xfrm>
          </p:grpSpPr>
          <p:sp>
            <p:nvSpPr>
              <p:cNvPr id="43" name="Google Shape;43;p15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44;p15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" name="Google Shape;45;p15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" name="Google Shape;46;p15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" name="Google Shape;47;p15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" name="Google Shape;48;p15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" name="Google Shape;49;p15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" name="Google Shape;50;p15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" name="Google Shape;51;p15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52;p15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" name="Google Shape;53;p15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" name="Google Shape;54;p15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5" name="Google Shape;55;p15"/>
            <p:cNvGrpSpPr/>
            <p:nvPr/>
          </p:nvGrpSpPr>
          <p:grpSpPr>
            <a:xfrm>
              <a:off x="731520" y="2777673"/>
              <a:ext cx="8075850" cy="50800"/>
              <a:chOff x="731520" y="670560"/>
              <a:chExt cx="8075850" cy="50800"/>
            </a:xfrm>
          </p:grpSpPr>
          <p:sp>
            <p:nvSpPr>
              <p:cNvPr id="56" name="Google Shape;56;p15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" name="Google Shape;57;p15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" name="Google Shape;58;p15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" name="Google Shape;59;p15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" name="Google Shape;60;p15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" name="Google Shape;61;p15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" name="Google Shape;62;p15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" name="Google Shape;63;p15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" name="Google Shape;64;p15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" name="Google Shape;65;p15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" name="Google Shape;66;p15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" name="Google Shape;67;p15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8" name="Google Shape;68;p15"/>
            <p:cNvGrpSpPr/>
            <p:nvPr/>
          </p:nvGrpSpPr>
          <p:grpSpPr>
            <a:xfrm>
              <a:off x="731520" y="3475802"/>
              <a:ext cx="8075850" cy="50800"/>
              <a:chOff x="731520" y="670560"/>
              <a:chExt cx="8075850" cy="50800"/>
            </a:xfrm>
          </p:grpSpPr>
          <p:sp>
            <p:nvSpPr>
              <p:cNvPr id="69" name="Google Shape;69;p15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" name="Google Shape;70;p15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" name="Google Shape;71;p15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" name="Google Shape;72;p15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" name="Google Shape;73;p15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" name="Google Shape;74;p15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" name="Google Shape;75;p15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" name="Google Shape;76;p15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" name="Google Shape;77;p15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" name="Google Shape;78;p15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" name="Google Shape;79;p15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" name="Google Shape;80;p15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1" name="Google Shape;81;p15"/>
            <p:cNvGrpSpPr/>
            <p:nvPr/>
          </p:nvGrpSpPr>
          <p:grpSpPr>
            <a:xfrm>
              <a:off x="731520" y="4179065"/>
              <a:ext cx="8075850" cy="50800"/>
              <a:chOff x="731520" y="670560"/>
              <a:chExt cx="8075850" cy="50800"/>
            </a:xfrm>
          </p:grpSpPr>
          <p:sp>
            <p:nvSpPr>
              <p:cNvPr id="82" name="Google Shape;82;p15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" name="Google Shape;83;p15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" name="Google Shape;84;p15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" name="Google Shape;85;p15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" name="Google Shape;86;p15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" name="Google Shape;87;p15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" name="Google Shape;88;p15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" name="Google Shape;89;p15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" name="Google Shape;90;p15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" name="Google Shape;91;p15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" name="Google Shape;92;p15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" name="Google Shape;93;p15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>
  <p:cSld name="1_Заголовок и объект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6"/>
          <p:cNvSpPr/>
          <p:nvPr/>
        </p:nvSpPr>
        <p:spPr>
          <a:xfrm>
            <a:off x="-16990" y="-5686"/>
            <a:ext cx="9160990" cy="5149186"/>
          </a:xfrm>
          <a:prstGeom prst="rect">
            <a:avLst/>
          </a:prstGeom>
          <a:gradFill>
            <a:gsLst>
              <a:gs pos="0">
                <a:srgbClr val="A19FC7"/>
              </a:gs>
              <a:gs pos="100000">
                <a:schemeClr val="lt1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spc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6"/>
          <p:cNvSpPr txBox="1"/>
          <p:nvPr/>
        </p:nvSpPr>
        <p:spPr>
          <a:xfrm>
            <a:off x="8544560" y="4874269"/>
            <a:ext cx="450804" cy="230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fld id="{00000000-1234-1234-1234-123412341234}" type="slidenum">
              <a:rPr lang="ru-RU" sz="1050" b="0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 b="0" i="0" u="none" strike="noStrike" cap="none" spc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7" name="Google Shape;9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28560" y="137993"/>
            <a:ext cx="1402964" cy="32465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8" name="Google Shape;98;p16"/>
          <p:cNvGrpSpPr/>
          <p:nvPr/>
        </p:nvGrpSpPr>
        <p:grpSpPr>
          <a:xfrm>
            <a:off x="254791" y="670273"/>
            <a:ext cx="8615773" cy="3797268"/>
            <a:chOff x="731520" y="670560"/>
            <a:chExt cx="8075850" cy="3559305"/>
          </a:xfrm>
        </p:grpSpPr>
        <p:grpSp>
          <p:nvGrpSpPr>
            <p:cNvPr id="99" name="Google Shape;99;p16"/>
            <p:cNvGrpSpPr/>
            <p:nvPr/>
          </p:nvGrpSpPr>
          <p:grpSpPr>
            <a:xfrm>
              <a:off x="731520" y="670560"/>
              <a:ext cx="8075850" cy="50800"/>
              <a:chOff x="731520" y="670560"/>
              <a:chExt cx="8075850" cy="50800"/>
            </a:xfrm>
          </p:grpSpPr>
          <p:sp>
            <p:nvSpPr>
              <p:cNvPr id="100" name="Google Shape;100;p16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" name="Google Shape;101;p16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" name="Google Shape;102;p16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" name="Google Shape;103;p16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" name="Google Shape;104;p16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" name="Google Shape;105;p16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" name="Google Shape;106;p16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" name="Google Shape;107;p16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" name="Google Shape;108;p16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" name="Google Shape;109;p16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" name="Google Shape;110;p16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" name="Google Shape;111;p16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2" name="Google Shape;112;p16"/>
            <p:cNvGrpSpPr/>
            <p:nvPr/>
          </p:nvGrpSpPr>
          <p:grpSpPr>
            <a:xfrm>
              <a:off x="731520" y="1354300"/>
              <a:ext cx="8075850" cy="50800"/>
              <a:chOff x="731520" y="670560"/>
              <a:chExt cx="8075850" cy="50800"/>
            </a:xfrm>
          </p:grpSpPr>
          <p:sp>
            <p:nvSpPr>
              <p:cNvPr id="113" name="Google Shape;113;p16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" name="Google Shape;114;p16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" name="Google Shape;115;p16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" name="Google Shape;116;p16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" name="Google Shape;117;p16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" name="Google Shape;118;p16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" name="Google Shape;119;p16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" name="Google Shape;120;p16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" name="Google Shape;121;p16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" name="Google Shape;122;p16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" name="Google Shape;123;p16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" name="Google Shape;124;p16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5" name="Google Shape;125;p16"/>
            <p:cNvGrpSpPr/>
            <p:nvPr/>
          </p:nvGrpSpPr>
          <p:grpSpPr>
            <a:xfrm>
              <a:off x="731520" y="2062754"/>
              <a:ext cx="8075850" cy="50800"/>
              <a:chOff x="731520" y="670560"/>
              <a:chExt cx="8075850" cy="50800"/>
            </a:xfrm>
          </p:grpSpPr>
          <p:sp>
            <p:nvSpPr>
              <p:cNvPr id="126" name="Google Shape;126;p16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" name="Google Shape;127;p16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" name="Google Shape;128;p16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" name="Google Shape;129;p16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" name="Google Shape;130;p16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" name="Google Shape;131;p16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" name="Google Shape;132;p16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" name="Google Shape;133;p16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" name="Google Shape;134;p16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" name="Google Shape;135;p16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" name="Google Shape;136;p16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" name="Google Shape;137;p16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8" name="Google Shape;138;p16"/>
            <p:cNvGrpSpPr/>
            <p:nvPr/>
          </p:nvGrpSpPr>
          <p:grpSpPr>
            <a:xfrm>
              <a:off x="731520" y="2777673"/>
              <a:ext cx="8075850" cy="50800"/>
              <a:chOff x="731520" y="670560"/>
              <a:chExt cx="8075850" cy="50800"/>
            </a:xfrm>
          </p:grpSpPr>
          <p:sp>
            <p:nvSpPr>
              <p:cNvPr id="139" name="Google Shape;139;p16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" name="Google Shape;140;p16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" name="Google Shape;141;p16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" name="Google Shape;142;p16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" name="Google Shape;143;p16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" name="Google Shape;144;p16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" name="Google Shape;145;p16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" name="Google Shape;146;p16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" name="Google Shape;147;p16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" name="Google Shape;148;p16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" name="Google Shape;149;p16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" name="Google Shape;150;p16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1" name="Google Shape;151;p16"/>
            <p:cNvGrpSpPr/>
            <p:nvPr/>
          </p:nvGrpSpPr>
          <p:grpSpPr>
            <a:xfrm>
              <a:off x="731520" y="3475802"/>
              <a:ext cx="8075850" cy="50800"/>
              <a:chOff x="731520" y="670560"/>
              <a:chExt cx="8075850" cy="50800"/>
            </a:xfrm>
          </p:grpSpPr>
          <p:sp>
            <p:nvSpPr>
              <p:cNvPr id="152" name="Google Shape;152;p16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" name="Google Shape;153;p16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" name="Google Shape;154;p16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" name="Google Shape;155;p16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" name="Google Shape;156;p16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" name="Google Shape;157;p16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" name="Google Shape;158;p16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" name="Google Shape;159;p16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" name="Google Shape;160;p16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" name="Google Shape;161;p16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" name="Google Shape;162;p16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" name="Google Shape;163;p16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4" name="Google Shape;164;p16"/>
            <p:cNvGrpSpPr/>
            <p:nvPr/>
          </p:nvGrpSpPr>
          <p:grpSpPr>
            <a:xfrm>
              <a:off x="731520" y="4179065"/>
              <a:ext cx="8075850" cy="50800"/>
              <a:chOff x="731520" y="670560"/>
              <a:chExt cx="8075850" cy="50800"/>
            </a:xfrm>
          </p:grpSpPr>
          <p:sp>
            <p:nvSpPr>
              <p:cNvPr id="165" name="Google Shape;165;p16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" name="Google Shape;166;p16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" name="Google Shape;167;p16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" name="Google Shape;168;p16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" name="Google Shape;169;p16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" name="Google Shape;170;p16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" name="Google Shape;171;p16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" name="Google Shape;172;p16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" name="Google Shape;173;p16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" name="Google Shape;174;p16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" name="Google Shape;175;p16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6" name="Google Shape;176;p16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77" name="Google Shape;177;p16"/>
          <p:cNvSpPr txBox="1"/>
          <p:nvPr/>
        </p:nvSpPr>
        <p:spPr>
          <a:xfrm>
            <a:off x="8590966" y="4774705"/>
            <a:ext cx="450804" cy="230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fld id="{00000000-1234-1234-1234-123412341234}" type="slidenum">
              <a:rPr lang="ru-RU" sz="1050" b="0" i="0" u="none" strike="noStrike" cap="none" spc="0">
                <a:solidFill>
                  <a:srgbClr val="00549A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 b="0" i="0" u="none" strike="noStrike" cap="none" spc="0">
              <a:solidFill>
                <a:srgbClr val="00549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>
  <p:cSld name="1_Заголовок и объект 2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7"/>
          <p:cNvSpPr/>
          <p:nvPr/>
        </p:nvSpPr>
        <p:spPr>
          <a:xfrm>
            <a:off x="-16990" y="-5686"/>
            <a:ext cx="9160990" cy="5149186"/>
          </a:xfrm>
          <a:prstGeom prst="rect">
            <a:avLst/>
          </a:prstGeom>
          <a:gradFill>
            <a:gsLst>
              <a:gs pos="0">
                <a:srgbClr val="0C056D"/>
              </a:gs>
              <a:gs pos="2597">
                <a:srgbClr val="0C056D"/>
              </a:gs>
              <a:gs pos="100000">
                <a:srgbClr val="5A90BE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spc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0" name="Google Shape;180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28560" y="137993"/>
            <a:ext cx="1402964" cy="32465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1" name="Google Shape;181;p17"/>
          <p:cNvGrpSpPr/>
          <p:nvPr/>
        </p:nvGrpSpPr>
        <p:grpSpPr>
          <a:xfrm>
            <a:off x="254791" y="670273"/>
            <a:ext cx="8615773" cy="3797268"/>
            <a:chOff x="731520" y="670560"/>
            <a:chExt cx="8075850" cy="3559305"/>
          </a:xfrm>
        </p:grpSpPr>
        <p:grpSp>
          <p:nvGrpSpPr>
            <p:cNvPr id="182" name="Google Shape;182;p17"/>
            <p:cNvGrpSpPr/>
            <p:nvPr/>
          </p:nvGrpSpPr>
          <p:grpSpPr>
            <a:xfrm>
              <a:off x="731520" y="670560"/>
              <a:ext cx="8075850" cy="50800"/>
              <a:chOff x="731520" y="670560"/>
              <a:chExt cx="8075850" cy="50800"/>
            </a:xfrm>
          </p:grpSpPr>
          <p:sp>
            <p:nvSpPr>
              <p:cNvPr id="183" name="Google Shape;183;p17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" name="Google Shape;184;p17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" name="Google Shape;185;p17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" name="Google Shape;186;p17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" name="Google Shape;187;p17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" name="Google Shape;188;p17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" name="Google Shape;189;p17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" name="Google Shape;190;p17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" name="Google Shape;191;p17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" name="Google Shape;192;p17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" name="Google Shape;193;p17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" name="Google Shape;194;p17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5" name="Google Shape;195;p17"/>
            <p:cNvGrpSpPr/>
            <p:nvPr/>
          </p:nvGrpSpPr>
          <p:grpSpPr>
            <a:xfrm>
              <a:off x="731520" y="1354300"/>
              <a:ext cx="8075850" cy="50800"/>
              <a:chOff x="731520" y="670560"/>
              <a:chExt cx="8075850" cy="50800"/>
            </a:xfrm>
          </p:grpSpPr>
          <p:sp>
            <p:nvSpPr>
              <p:cNvPr id="196" name="Google Shape;196;p17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" name="Google Shape;197;p17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" name="Google Shape;198;p17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" name="Google Shape;199;p17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" name="Google Shape;200;p17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" name="Google Shape;201;p17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2" name="Google Shape;202;p17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3" name="Google Shape;203;p17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4" name="Google Shape;204;p17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5" name="Google Shape;205;p17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" name="Google Shape;206;p17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" name="Google Shape;207;p17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8" name="Google Shape;208;p17"/>
            <p:cNvGrpSpPr/>
            <p:nvPr/>
          </p:nvGrpSpPr>
          <p:grpSpPr>
            <a:xfrm>
              <a:off x="731520" y="2062754"/>
              <a:ext cx="8075850" cy="50800"/>
              <a:chOff x="731520" y="670560"/>
              <a:chExt cx="8075850" cy="50800"/>
            </a:xfrm>
          </p:grpSpPr>
          <p:sp>
            <p:nvSpPr>
              <p:cNvPr id="209" name="Google Shape;209;p17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" name="Google Shape;210;p17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" name="Google Shape;211;p17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" name="Google Shape;212;p17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" name="Google Shape;213;p17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" name="Google Shape;214;p17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" name="Google Shape;215;p17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" name="Google Shape;216;p17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" name="Google Shape;217;p17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" name="Google Shape;218;p17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" name="Google Shape;219;p17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" name="Google Shape;220;p17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1" name="Google Shape;221;p17"/>
            <p:cNvGrpSpPr/>
            <p:nvPr/>
          </p:nvGrpSpPr>
          <p:grpSpPr>
            <a:xfrm>
              <a:off x="731520" y="2777673"/>
              <a:ext cx="8075850" cy="50800"/>
              <a:chOff x="731520" y="670560"/>
              <a:chExt cx="8075850" cy="50800"/>
            </a:xfrm>
          </p:grpSpPr>
          <p:sp>
            <p:nvSpPr>
              <p:cNvPr id="222" name="Google Shape;222;p17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" name="Google Shape;223;p17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" name="Google Shape;224;p17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" name="Google Shape;225;p17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6" name="Google Shape;226;p17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" name="Google Shape;227;p17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" name="Google Shape;228;p17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9" name="Google Shape;229;p17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" name="Google Shape;230;p17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" name="Google Shape;231;p17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2" name="Google Shape;232;p17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3" name="Google Shape;233;p17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4" name="Google Shape;234;p17"/>
            <p:cNvGrpSpPr/>
            <p:nvPr/>
          </p:nvGrpSpPr>
          <p:grpSpPr>
            <a:xfrm>
              <a:off x="731520" y="3475802"/>
              <a:ext cx="8075850" cy="50800"/>
              <a:chOff x="731520" y="670560"/>
              <a:chExt cx="8075850" cy="50800"/>
            </a:xfrm>
          </p:grpSpPr>
          <p:sp>
            <p:nvSpPr>
              <p:cNvPr id="235" name="Google Shape;235;p17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" name="Google Shape;236;p17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7" name="Google Shape;237;p17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8" name="Google Shape;238;p17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9" name="Google Shape;239;p17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" name="Google Shape;240;p17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" name="Google Shape;241;p17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" name="Google Shape;242;p17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" name="Google Shape;243;p17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" name="Google Shape;244;p17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" name="Google Shape;245;p17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" name="Google Shape;246;p17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7" name="Google Shape;247;p17"/>
            <p:cNvGrpSpPr/>
            <p:nvPr/>
          </p:nvGrpSpPr>
          <p:grpSpPr>
            <a:xfrm>
              <a:off x="731520" y="4179065"/>
              <a:ext cx="8075850" cy="50800"/>
              <a:chOff x="731520" y="670560"/>
              <a:chExt cx="8075850" cy="50800"/>
            </a:xfrm>
          </p:grpSpPr>
          <p:sp>
            <p:nvSpPr>
              <p:cNvPr id="248" name="Google Shape;248;p17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" name="Google Shape;249;p17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" name="Google Shape;250;p17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" name="Google Shape;251;p17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" name="Google Shape;252;p17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" name="Google Shape;253;p17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" name="Google Shape;254;p17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" name="Google Shape;255;p17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6" name="Google Shape;256;p17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7" name="Google Shape;257;p17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" name="Google Shape;258;p17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" name="Google Shape;259;p17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60" name="Google Shape;260;p17"/>
          <p:cNvSpPr txBox="1"/>
          <p:nvPr/>
        </p:nvSpPr>
        <p:spPr>
          <a:xfrm>
            <a:off x="8590966" y="4774705"/>
            <a:ext cx="450804" cy="230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fld id="{00000000-1234-1234-1234-123412341234}" type="slidenum">
              <a:rPr lang="ru-RU" sz="1050" b="0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 b="0" i="0" u="none" strike="noStrike" cap="none" spc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>
  <p:cSld name="1_Заголовок и объект 3"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8"/>
          <p:cNvSpPr/>
          <p:nvPr/>
        </p:nvSpPr>
        <p:spPr>
          <a:xfrm>
            <a:off x="-16990" y="-5686"/>
            <a:ext cx="9160990" cy="5149186"/>
          </a:xfrm>
          <a:prstGeom prst="rect">
            <a:avLst/>
          </a:prstGeom>
          <a:gradFill>
            <a:gsLst>
              <a:gs pos="0">
                <a:srgbClr val="F25D9C"/>
              </a:gs>
              <a:gs pos="100000">
                <a:srgbClr val="F8ADCD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spc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3" name="Google Shape;263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28560" y="137993"/>
            <a:ext cx="1402964" cy="32465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4" name="Google Shape;264;p18"/>
          <p:cNvGrpSpPr/>
          <p:nvPr/>
        </p:nvGrpSpPr>
        <p:grpSpPr>
          <a:xfrm>
            <a:off x="254791" y="670273"/>
            <a:ext cx="8615773" cy="3797268"/>
            <a:chOff x="731520" y="670560"/>
            <a:chExt cx="8075850" cy="3559305"/>
          </a:xfrm>
        </p:grpSpPr>
        <p:grpSp>
          <p:nvGrpSpPr>
            <p:cNvPr id="265" name="Google Shape;265;p18"/>
            <p:cNvGrpSpPr/>
            <p:nvPr/>
          </p:nvGrpSpPr>
          <p:grpSpPr>
            <a:xfrm>
              <a:off x="731520" y="670560"/>
              <a:ext cx="8075850" cy="50800"/>
              <a:chOff x="731520" y="670560"/>
              <a:chExt cx="8075850" cy="50800"/>
            </a:xfrm>
          </p:grpSpPr>
          <p:sp>
            <p:nvSpPr>
              <p:cNvPr id="266" name="Google Shape;266;p18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" name="Google Shape;267;p18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" name="Google Shape;268;p18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9" name="Google Shape;269;p18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0" name="Google Shape;270;p18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1" name="Google Shape;271;p18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" name="Google Shape;272;p18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3" name="Google Shape;273;p18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" name="Google Shape;274;p18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" name="Google Shape;275;p18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6" name="Google Shape;276;p18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7" name="Google Shape;277;p18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78" name="Google Shape;278;p18"/>
            <p:cNvGrpSpPr/>
            <p:nvPr/>
          </p:nvGrpSpPr>
          <p:grpSpPr>
            <a:xfrm>
              <a:off x="731520" y="1354300"/>
              <a:ext cx="8075850" cy="50800"/>
              <a:chOff x="731520" y="670560"/>
              <a:chExt cx="8075850" cy="50800"/>
            </a:xfrm>
          </p:grpSpPr>
          <p:sp>
            <p:nvSpPr>
              <p:cNvPr id="279" name="Google Shape;279;p18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0" name="Google Shape;280;p18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1" name="Google Shape;281;p18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2" name="Google Shape;282;p18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3" name="Google Shape;283;p18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4" name="Google Shape;284;p18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5" name="Google Shape;285;p18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6" name="Google Shape;286;p18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7" name="Google Shape;287;p18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8" name="Google Shape;288;p18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9" name="Google Shape;289;p18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0" name="Google Shape;290;p18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91" name="Google Shape;291;p18"/>
            <p:cNvGrpSpPr/>
            <p:nvPr/>
          </p:nvGrpSpPr>
          <p:grpSpPr>
            <a:xfrm>
              <a:off x="731520" y="2062754"/>
              <a:ext cx="8075850" cy="50800"/>
              <a:chOff x="731520" y="670560"/>
              <a:chExt cx="8075850" cy="50800"/>
            </a:xfrm>
          </p:grpSpPr>
          <p:sp>
            <p:nvSpPr>
              <p:cNvPr id="292" name="Google Shape;292;p18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3" name="Google Shape;293;p18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4" name="Google Shape;294;p18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5" name="Google Shape;295;p18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6" name="Google Shape;296;p18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7" name="Google Shape;297;p18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8" name="Google Shape;298;p18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9" name="Google Shape;299;p18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0" name="Google Shape;300;p18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1" name="Google Shape;301;p18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2" name="Google Shape;302;p18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3" name="Google Shape;303;p18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04" name="Google Shape;304;p18"/>
            <p:cNvGrpSpPr/>
            <p:nvPr/>
          </p:nvGrpSpPr>
          <p:grpSpPr>
            <a:xfrm>
              <a:off x="731520" y="2777673"/>
              <a:ext cx="8075850" cy="50800"/>
              <a:chOff x="731520" y="670560"/>
              <a:chExt cx="8075850" cy="50800"/>
            </a:xfrm>
          </p:grpSpPr>
          <p:sp>
            <p:nvSpPr>
              <p:cNvPr id="305" name="Google Shape;305;p18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6" name="Google Shape;306;p18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7" name="Google Shape;307;p18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8" name="Google Shape;308;p18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9" name="Google Shape;309;p18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0" name="Google Shape;310;p18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1" name="Google Shape;311;p18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2" name="Google Shape;312;p18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3" name="Google Shape;313;p18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4" name="Google Shape;314;p18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5" name="Google Shape;315;p18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6" name="Google Shape;316;p18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17" name="Google Shape;317;p18"/>
            <p:cNvGrpSpPr/>
            <p:nvPr/>
          </p:nvGrpSpPr>
          <p:grpSpPr>
            <a:xfrm>
              <a:off x="731520" y="3475802"/>
              <a:ext cx="8075850" cy="50800"/>
              <a:chOff x="731520" y="670560"/>
              <a:chExt cx="8075850" cy="50800"/>
            </a:xfrm>
          </p:grpSpPr>
          <p:sp>
            <p:nvSpPr>
              <p:cNvPr id="318" name="Google Shape;318;p18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9" name="Google Shape;319;p18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0" name="Google Shape;320;p18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1" name="Google Shape;321;p18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2" name="Google Shape;322;p18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3" name="Google Shape;323;p18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4" name="Google Shape;324;p18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5" name="Google Shape;325;p18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6" name="Google Shape;326;p18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7" name="Google Shape;327;p18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8" name="Google Shape;328;p18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9" name="Google Shape;329;p18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30" name="Google Shape;330;p18"/>
            <p:cNvGrpSpPr/>
            <p:nvPr/>
          </p:nvGrpSpPr>
          <p:grpSpPr>
            <a:xfrm>
              <a:off x="731520" y="4179065"/>
              <a:ext cx="8075850" cy="50800"/>
              <a:chOff x="731520" y="670560"/>
              <a:chExt cx="8075850" cy="50800"/>
            </a:xfrm>
          </p:grpSpPr>
          <p:sp>
            <p:nvSpPr>
              <p:cNvPr id="331" name="Google Shape;331;p18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2" name="Google Shape;332;p18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3" name="Google Shape;333;p18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4" name="Google Shape;334;p18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5" name="Google Shape;335;p18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6" name="Google Shape;336;p18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7" name="Google Shape;337;p18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8" name="Google Shape;338;p18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9" name="Google Shape;339;p18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0" name="Google Shape;340;p18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1" name="Google Shape;341;p18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2" name="Google Shape;342;p18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43" name="Google Shape;343;p18"/>
          <p:cNvSpPr txBox="1"/>
          <p:nvPr/>
        </p:nvSpPr>
        <p:spPr>
          <a:xfrm>
            <a:off x="8590966" y="4774705"/>
            <a:ext cx="450804" cy="230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fld id="{00000000-1234-1234-1234-123412341234}" type="slidenum">
              <a:rPr lang="ru-RU" sz="1050" b="0" i="0" u="none" strike="noStrike" cap="none" spc="0">
                <a:solidFill>
                  <a:srgbClr val="B61AAE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 b="0" i="0" u="none" strike="noStrike" cap="none" spc="0">
              <a:solidFill>
                <a:srgbClr val="B61AAE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>
  <p:cSld name="1_Заголовок и объект 4"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9"/>
          <p:cNvSpPr/>
          <p:nvPr/>
        </p:nvSpPr>
        <p:spPr>
          <a:xfrm>
            <a:off x="-16990" y="-5686"/>
            <a:ext cx="9160990" cy="5149186"/>
          </a:xfrm>
          <a:prstGeom prst="rect">
            <a:avLst/>
          </a:prstGeom>
          <a:gradFill>
            <a:gsLst>
              <a:gs pos="0">
                <a:srgbClr val="00549A"/>
              </a:gs>
              <a:gs pos="100000">
                <a:schemeClr val="lt1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spc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6" name="Google Shape;346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28560" y="137993"/>
            <a:ext cx="1402964" cy="32465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7" name="Google Shape;347;p19"/>
          <p:cNvGrpSpPr/>
          <p:nvPr/>
        </p:nvGrpSpPr>
        <p:grpSpPr>
          <a:xfrm>
            <a:off x="254791" y="670273"/>
            <a:ext cx="8615773" cy="3797268"/>
            <a:chOff x="731520" y="670560"/>
            <a:chExt cx="8075850" cy="3559305"/>
          </a:xfrm>
        </p:grpSpPr>
        <p:grpSp>
          <p:nvGrpSpPr>
            <p:cNvPr id="348" name="Google Shape;348;p19"/>
            <p:cNvGrpSpPr/>
            <p:nvPr/>
          </p:nvGrpSpPr>
          <p:grpSpPr>
            <a:xfrm>
              <a:off x="731520" y="670560"/>
              <a:ext cx="8075850" cy="50800"/>
              <a:chOff x="731520" y="670560"/>
              <a:chExt cx="8075850" cy="50800"/>
            </a:xfrm>
          </p:grpSpPr>
          <p:sp>
            <p:nvSpPr>
              <p:cNvPr id="349" name="Google Shape;349;p19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0" name="Google Shape;350;p19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1" name="Google Shape;351;p19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2" name="Google Shape;352;p19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3" name="Google Shape;353;p19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4" name="Google Shape;354;p19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5" name="Google Shape;355;p19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6" name="Google Shape;356;p19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7" name="Google Shape;357;p19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8" name="Google Shape;358;p19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9" name="Google Shape;359;p19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0" name="Google Shape;360;p19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61" name="Google Shape;361;p19"/>
            <p:cNvGrpSpPr/>
            <p:nvPr/>
          </p:nvGrpSpPr>
          <p:grpSpPr>
            <a:xfrm>
              <a:off x="731520" y="1354300"/>
              <a:ext cx="8075850" cy="50800"/>
              <a:chOff x="731520" y="670560"/>
              <a:chExt cx="8075850" cy="50800"/>
            </a:xfrm>
          </p:grpSpPr>
          <p:sp>
            <p:nvSpPr>
              <p:cNvPr id="362" name="Google Shape;362;p19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3" name="Google Shape;363;p19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4" name="Google Shape;364;p19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5" name="Google Shape;365;p19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6" name="Google Shape;366;p19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7" name="Google Shape;367;p19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8" name="Google Shape;368;p19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9" name="Google Shape;369;p19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0" name="Google Shape;370;p19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1" name="Google Shape;371;p19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2" name="Google Shape;372;p19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3" name="Google Shape;373;p19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74" name="Google Shape;374;p19"/>
            <p:cNvGrpSpPr/>
            <p:nvPr/>
          </p:nvGrpSpPr>
          <p:grpSpPr>
            <a:xfrm>
              <a:off x="731520" y="2062754"/>
              <a:ext cx="8075850" cy="50800"/>
              <a:chOff x="731520" y="670560"/>
              <a:chExt cx="8075850" cy="50800"/>
            </a:xfrm>
          </p:grpSpPr>
          <p:sp>
            <p:nvSpPr>
              <p:cNvPr id="375" name="Google Shape;375;p19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6" name="Google Shape;376;p19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7" name="Google Shape;377;p19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8" name="Google Shape;378;p19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9" name="Google Shape;379;p19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0" name="Google Shape;380;p19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1" name="Google Shape;381;p19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2" name="Google Shape;382;p19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3" name="Google Shape;383;p19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4" name="Google Shape;384;p19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5" name="Google Shape;385;p19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6" name="Google Shape;386;p19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87" name="Google Shape;387;p19"/>
            <p:cNvGrpSpPr/>
            <p:nvPr/>
          </p:nvGrpSpPr>
          <p:grpSpPr>
            <a:xfrm>
              <a:off x="731520" y="2777673"/>
              <a:ext cx="8075850" cy="50800"/>
              <a:chOff x="731520" y="670560"/>
              <a:chExt cx="8075850" cy="50800"/>
            </a:xfrm>
          </p:grpSpPr>
          <p:sp>
            <p:nvSpPr>
              <p:cNvPr id="388" name="Google Shape;388;p19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9" name="Google Shape;389;p19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0" name="Google Shape;390;p19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1" name="Google Shape;391;p19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2" name="Google Shape;392;p19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3" name="Google Shape;393;p19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4" name="Google Shape;394;p19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5" name="Google Shape;395;p19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6" name="Google Shape;396;p19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7" name="Google Shape;397;p19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8" name="Google Shape;398;p19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9" name="Google Shape;399;p19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00" name="Google Shape;400;p19"/>
            <p:cNvGrpSpPr/>
            <p:nvPr/>
          </p:nvGrpSpPr>
          <p:grpSpPr>
            <a:xfrm>
              <a:off x="731520" y="3475802"/>
              <a:ext cx="8075850" cy="50800"/>
              <a:chOff x="731520" y="670560"/>
              <a:chExt cx="8075850" cy="50800"/>
            </a:xfrm>
          </p:grpSpPr>
          <p:sp>
            <p:nvSpPr>
              <p:cNvPr id="401" name="Google Shape;401;p19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2" name="Google Shape;402;p19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3" name="Google Shape;403;p19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4" name="Google Shape;404;p19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5" name="Google Shape;405;p19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6" name="Google Shape;406;p19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7" name="Google Shape;407;p19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8" name="Google Shape;408;p19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9" name="Google Shape;409;p19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0" name="Google Shape;410;p19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1" name="Google Shape;411;p19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2" name="Google Shape;412;p19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13" name="Google Shape;413;p19"/>
            <p:cNvGrpSpPr/>
            <p:nvPr/>
          </p:nvGrpSpPr>
          <p:grpSpPr>
            <a:xfrm>
              <a:off x="731520" y="4179065"/>
              <a:ext cx="8075850" cy="50800"/>
              <a:chOff x="731520" y="670560"/>
              <a:chExt cx="8075850" cy="50800"/>
            </a:xfrm>
          </p:grpSpPr>
          <p:sp>
            <p:nvSpPr>
              <p:cNvPr id="414" name="Google Shape;414;p19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5" name="Google Shape;415;p19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6" name="Google Shape;416;p19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7" name="Google Shape;417;p19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8" name="Google Shape;418;p19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9" name="Google Shape;419;p19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0" name="Google Shape;420;p19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1" name="Google Shape;421;p19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2" name="Google Shape;422;p19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3" name="Google Shape;423;p19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4" name="Google Shape;424;p19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5" name="Google Shape;425;p19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26" name="Google Shape;426;p19"/>
          <p:cNvSpPr txBox="1"/>
          <p:nvPr/>
        </p:nvSpPr>
        <p:spPr>
          <a:xfrm>
            <a:off x="8590966" y="4774705"/>
            <a:ext cx="450804" cy="230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fld id="{00000000-1234-1234-1234-123412341234}" type="slidenum">
              <a:rPr lang="ru-RU" sz="1050" b="0" i="0" u="none" strike="noStrike" cap="none" spc="0">
                <a:solidFill>
                  <a:srgbClr val="00549A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 b="0" i="0" u="none" strike="noStrike" cap="none" spc="0">
              <a:solidFill>
                <a:srgbClr val="00549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>
  <p:cSld name="1_Титульный слайд"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20"/>
          <p:cNvSpPr/>
          <p:nvPr/>
        </p:nvSpPr>
        <p:spPr>
          <a:xfrm>
            <a:off x="-16990" y="-5686"/>
            <a:ext cx="9160990" cy="5149186"/>
          </a:xfrm>
          <a:prstGeom prst="rect">
            <a:avLst/>
          </a:prstGeom>
          <a:gradFill>
            <a:gsLst>
              <a:gs pos="0">
                <a:srgbClr val="0C056D"/>
              </a:gs>
              <a:gs pos="44000">
                <a:srgbClr val="0C056D"/>
              </a:gs>
              <a:gs pos="100000">
                <a:srgbClr val="590D82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spc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9" name="Google Shape;429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28560" y="137993"/>
            <a:ext cx="1402964" cy="32465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0" name="Google Shape;430;p20"/>
          <p:cNvGrpSpPr/>
          <p:nvPr/>
        </p:nvGrpSpPr>
        <p:grpSpPr>
          <a:xfrm>
            <a:off x="254791" y="670273"/>
            <a:ext cx="8615773" cy="3797268"/>
            <a:chOff x="731520" y="670560"/>
            <a:chExt cx="8075850" cy="3559305"/>
          </a:xfrm>
        </p:grpSpPr>
        <p:grpSp>
          <p:nvGrpSpPr>
            <p:cNvPr id="431" name="Google Shape;431;p20"/>
            <p:cNvGrpSpPr/>
            <p:nvPr/>
          </p:nvGrpSpPr>
          <p:grpSpPr>
            <a:xfrm>
              <a:off x="731520" y="670560"/>
              <a:ext cx="8075850" cy="50800"/>
              <a:chOff x="731520" y="670560"/>
              <a:chExt cx="8075850" cy="50800"/>
            </a:xfrm>
          </p:grpSpPr>
          <p:sp>
            <p:nvSpPr>
              <p:cNvPr id="432" name="Google Shape;432;p20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3" name="Google Shape;433;p20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4" name="Google Shape;434;p20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5" name="Google Shape;435;p20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6" name="Google Shape;436;p20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7" name="Google Shape;437;p20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8" name="Google Shape;438;p20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9" name="Google Shape;439;p20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0" name="Google Shape;440;p20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1" name="Google Shape;441;p20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2" name="Google Shape;442;p20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3" name="Google Shape;443;p20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44" name="Google Shape;444;p20"/>
            <p:cNvGrpSpPr/>
            <p:nvPr/>
          </p:nvGrpSpPr>
          <p:grpSpPr>
            <a:xfrm>
              <a:off x="731520" y="1354300"/>
              <a:ext cx="8075850" cy="50800"/>
              <a:chOff x="731520" y="670560"/>
              <a:chExt cx="8075850" cy="50800"/>
            </a:xfrm>
          </p:grpSpPr>
          <p:sp>
            <p:nvSpPr>
              <p:cNvPr id="445" name="Google Shape;445;p20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6" name="Google Shape;446;p20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7" name="Google Shape;447;p20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8" name="Google Shape;448;p20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9" name="Google Shape;449;p20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0" name="Google Shape;450;p20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1" name="Google Shape;451;p20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2" name="Google Shape;452;p20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3" name="Google Shape;453;p20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4" name="Google Shape;454;p20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5" name="Google Shape;455;p20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6" name="Google Shape;456;p20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57" name="Google Shape;457;p20"/>
            <p:cNvGrpSpPr/>
            <p:nvPr/>
          </p:nvGrpSpPr>
          <p:grpSpPr>
            <a:xfrm>
              <a:off x="731520" y="2062754"/>
              <a:ext cx="8075850" cy="50800"/>
              <a:chOff x="731520" y="670560"/>
              <a:chExt cx="8075850" cy="50800"/>
            </a:xfrm>
          </p:grpSpPr>
          <p:sp>
            <p:nvSpPr>
              <p:cNvPr id="458" name="Google Shape;458;p20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9" name="Google Shape;459;p20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0" name="Google Shape;460;p20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1" name="Google Shape;461;p20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2" name="Google Shape;462;p20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3" name="Google Shape;463;p20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4" name="Google Shape;464;p20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5" name="Google Shape;465;p20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6" name="Google Shape;466;p20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7" name="Google Shape;467;p20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8" name="Google Shape;468;p20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9" name="Google Shape;469;p20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70" name="Google Shape;470;p20"/>
            <p:cNvGrpSpPr/>
            <p:nvPr/>
          </p:nvGrpSpPr>
          <p:grpSpPr>
            <a:xfrm>
              <a:off x="731520" y="2777673"/>
              <a:ext cx="8075850" cy="50800"/>
              <a:chOff x="731520" y="670560"/>
              <a:chExt cx="8075850" cy="50800"/>
            </a:xfrm>
          </p:grpSpPr>
          <p:sp>
            <p:nvSpPr>
              <p:cNvPr id="471" name="Google Shape;471;p20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2" name="Google Shape;472;p20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3" name="Google Shape;473;p20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4" name="Google Shape;474;p20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5" name="Google Shape;475;p20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6" name="Google Shape;476;p20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7" name="Google Shape;477;p20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8" name="Google Shape;478;p20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9" name="Google Shape;479;p20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0" name="Google Shape;480;p20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1" name="Google Shape;481;p20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2" name="Google Shape;482;p20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83" name="Google Shape;483;p20"/>
            <p:cNvGrpSpPr/>
            <p:nvPr/>
          </p:nvGrpSpPr>
          <p:grpSpPr>
            <a:xfrm>
              <a:off x="731520" y="3475802"/>
              <a:ext cx="8075850" cy="50800"/>
              <a:chOff x="731520" y="670560"/>
              <a:chExt cx="8075850" cy="50800"/>
            </a:xfrm>
          </p:grpSpPr>
          <p:sp>
            <p:nvSpPr>
              <p:cNvPr id="484" name="Google Shape;484;p20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5" name="Google Shape;485;p20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6" name="Google Shape;486;p20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7" name="Google Shape;487;p20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8" name="Google Shape;488;p20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9" name="Google Shape;489;p20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0" name="Google Shape;490;p20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1" name="Google Shape;491;p20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2" name="Google Shape;492;p20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3" name="Google Shape;493;p20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4" name="Google Shape;494;p20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5" name="Google Shape;495;p20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96" name="Google Shape;496;p20"/>
            <p:cNvGrpSpPr/>
            <p:nvPr/>
          </p:nvGrpSpPr>
          <p:grpSpPr>
            <a:xfrm>
              <a:off x="731520" y="4179065"/>
              <a:ext cx="8075850" cy="50800"/>
              <a:chOff x="731520" y="670560"/>
              <a:chExt cx="8075850" cy="50800"/>
            </a:xfrm>
          </p:grpSpPr>
          <p:sp>
            <p:nvSpPr>
              <p:cNvPr id="497" name="Google Shape;497;p20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8" name="Google Shape;498;p20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9" name="Google Shape;499;p20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0" name="Google Shape;500;p20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1" name="Google Shape;501;p20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2" name="Google Shape;502;p20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3" name="Google Shape;503;p20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4" name="Google Shape;504;p20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5" name="Google Shape;505;p20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6" name="Google Shape;506;p20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7" name="Google Shape;507;p20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8" name="Google Shape;508;p20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4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3" name="Google Shape;513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545"/>
            <a:ext cx="9130709" cy="5137955"/>
          </a:xfrm>
          <a:prstGeom prst="rect">
            <a:avLst/>
          </a:prstGeom>
          <a:noFill/>
          <a:ln>
            <a:noFill/>
          </a:ln>
        </p:spPr>
      </p:pic>
      <p:sp>
        <p:nvSpPr>
          <p:cNvPr id="514" name="Google Shape;514;p1"/>
          <p:cNvSpPr/>
          <p:nvPr/>
        </p:nvSpPr>
        <p:spPr>
          <a:xfrm>
            <a:off x="-33980" y="-5545"/>
            <a:ext cx="9177980" cy="5143500"/>
          </a:xfrm>
          <a:prstGeom prst="rect">
            <a:avLst/>
          </a:prstGeom>
          <a:gradFill>
            <a:gsLst>
              <a:gs pos="0">
                <a:srgbClr val="0C056D">
                  <a:alpha val="81961"/>
                </a:srgbClr>
              </a:gs>
              <a:gs pos="866">
                <a:srgbClr val="0C056D">
                  <a:alpha val="81961"/>
                </a:srgbClr>
              </a:gs>
              <a:gs pos="28000">
                <a:srgbClr val="0C056D">
                  <a:alpha val="81961"/>
                </a:srgbClr>
              </a:gs>
              <a:gs pos="70000">
                <a:srgbClr val="590D82">
                  <a:alpha val="67843"/>
                </a:srgbClr>
              </a:gs>
              <a:gs pos="100000">
                <a:srgbClr val="590D82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spc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1"/>
          <p:cNvSpPr/>
          <p:nvPr/>
        </p:nvSpPr>
        <p:spPr>
          <a:xfrm>
            <a:off x="-14387333" y="-3608740"/>
            <a:ext cx="11285318" cy="3352847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spc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1"/>
          <p:cNvSpPr txBox="1"/>
          <p:nvPr/>
        </p:nvSpPr>
        <p:spPr>
          <a:xfrm>
            <a:off x="563879" y="3691805"/>
            <a:ext cx="4796986" cy="970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7" name="Google Shape;517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48936" y="233660"/>
            <a:ext cx="1067132" cy="71807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8" name="Google Shape;518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925888" y="299481"/>
            <a:ext cx="743391" cy="625282"/>
          </a:xfrm>
          <a:prstGeom prst="rect">
            <a:avLst/>
          </a:prstGeom>
          <a:noFill/>
          <a:ln>
            <a:noFill/>
          </a:ln>
        </p:spPr>
      </p:pic>
      <p:pic>
        <p:nvPicPr>
          <p:cNvPr id="519" name="Google Shape;519;p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02853" y="296524"/>
            <a:ext cx="2341886" cy="541924"/>
          </a:xfrm>
          <a:prstGeom prst="rect">
            <a:avLst/>
          </a:prstGeom>
          <a:noFill/>
          <a:ln>
            <a:noFill/>
          </a:ln>
        </p:spPr>
      </p:pic>
      <p:sp>
        <p:nvSpPr>
          <p:cNvPr id="520" name="Google Shape;520;p1"/>
          <p:cNvSpPr txBox="1"/>
          <p:nvPr/>
        </p:nvSpPr>
        <p:spPr>
          <a:xfrm>
            <a:off x="402853" y="1142675"/>
            <a:ext cx="8266500" cy="108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sz="3600" b="1" i="0" u="none" strike="noStrike" cap="none" spc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ru-RU" sz="3600" b="1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                   ПОЛЕ</a:t>
            </a:r>
            <a:endParaRPr sz="3600" b="1" i="0" u="none" strike="noStrike" cap="none" spc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1"/>
          <p:cNvSpPr/>
          <p:nvPr/>
        </p:nvSpPr>
        <p:spPr>
          <a:xfrm>
            <a:off x="-8052085" y="-2359063"/>
            <a:ext cx="8707477" cy="1255963"/>
          </a:xfrm>
          <a:prstGeom prst="ellipse">
            <a:avLst/>
          </a:prstGeom>
          <a:solidFill>
            <a:srgbClr val="B61AA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spc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1"/>
          <p:cNvSpPr txBox="1"/>
          <p:nvPr/>
        </p:nvSpPr>
        <p:spPr>
          <a:xfrm>
            <a:off x="6313902" y="3625556"/>
            <a:ext cx="2185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23" name="Google Shape;523;p1"/>
          <p:cNvGrpSpPr/>
          <p:nvPr/>
        </p:nvGrpSpPr>
        <p:grpSpPr>
          <a:xfrm>
            <a:off x="303462" y="2533678"/>
            <a:ext cx="5631957" cy="709522"/>
            <a:chOff x="579120" y="2415540"/>
            <a:chExt cx="5273040" cy="709522"/>
          </a:xfrm>
        </p:grpSpPr>
        <p:sp>
          <p:nvSpPr>
            <p:cNvPr id="524" name="Google Shape;524;p1"/>
            <p:cNvSpPr/>
            <p:nvPr/>
          </p:nvSpPr>
          <p:spPr>
            <a:xfrm>
              <a:off x="579120" y="2415540"/>
              <a:ext cx="5273040" cy="709522"/>
            </a:xfrm>
            <a:prstGeom prst="roundRect">
              <a:avLst>
                <a:gd name="adj" fmla="val 50000"/>
              </a:avLst>
            </a:prstGeom>
            <a:solidFill>
              <a:srgbClr val="F25D9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" name="Google Shape;525;p1"/>
            <p:cNvSpPr/>
            <p:nvPr/>
          </p:nvSpPr>
          <p:spPr>
            <a:xfrm>
              <a:off x="740146" y="2571750"/>
              <a:ext cx="4959614" cy="415290"/>
            </a:xfrm>
            <a:prstGeom prst="roundRect">
              <a:avLst>
                <a:gd name="adj" fmla="val 50000"/>
              </a:avLst>
            </a:prstGeom>
            <a:solidFill>
              <a:srgbClr val="F25D9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6" name="Google Shape;526;p1"/>
          <p:cNvSpPr txBox="1"/>
          <p:nvPr/>
        </p:nvSpPr>
        <p:spPr>
          <a:xfrm>
            <a:off x="459041" y="2608442"/>
            <a:ext cx="5510373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1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Мобильное приложение для изучения программирования</a:t>
            </a:r>
            <a:endParaRPr/>
          </a:p>
        </p:txBody>
      </p:sp>
      <p:sp>
        <p:nvSpPr>
          <p:cNvPr id="527" name="Google Shape;527;p1"/>
          <p:cNvSpPr txBox="1"/>
          <p:nvPr/>
        </p:nvSpPr>
        <p:spPr>
          <a:xfrm>
            <a:off x="563879" y="3407644"/>
            <a:ext cx="102651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1" i="0" u="none" strike="noStrike" cap="none" spc="0">
                <a:solidFill>
                  <a:srgbClr val="F25D9C"/>
                </a:solidFill>
                <a:latin typeface="Arial"/>
                <a:ea typeface="Arial"/>
                <a:cs typeface="Arial"/>
                <a:sym typeface="Arial"/>
              </a:rPr>
              <a:t>Команда:</a:t>
            </a:r>
            <a:endParaRPr sz="1400" b="1" i="0" u="none" strike="noStrike" cap="none" spc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1"/>
          <p:cNvSpPr txBox="1"/>
          <p:nvPr/>
        </p:nvSpPr>
        <p:spPr>
          <a:xfrm>
            <a:off x="6313902" y="3407644"/>
            <a:ext cx="139318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1" i="0" u="none" strike="noStrike" cap="none" spc="0">
                <a:solidFill>
                  <a:srgbClr val="F25D9C"/>
                </a:solidFill>
                <a:latin typeface="Arial"/>
                <a:ea typeface="Arial"/>
                <a:cs typeface="Arial"/>
                <a:sym typeface="Arial"/>
              </a:rPr>
              <a:t>Наставник:</a:t>
            </a:r>
            <a:endParaRPr sz="1400" b="1" i="0" u="none" strike="noStrike" cap="none" spc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1"/>
          <p:cNvSpPr/>
          <p:nvPr/>
        </p:nvSpPr>
        <p:spPr>
          <a:xfrm>
            <a:off x="459041" y="3317886"/>
            <a:ext cx="5320800" cy="1464900"/>
          </a:xfrm>
          <a:prstGeom prst="roundRect">
            <a:avLst>
              <a:gd name="adj" fmla="val 16189"/>
            </a:avLst>
          </a:prstGeom>
          <a:noFill/>
          <a:ln w="9525" cap="flat" cmpd="sng">
            <a:solidFill>
              <a:srgbClr val="F25D9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Чан Чунг Куанг.</a:t>
            </a:r>
            <a:endParaRPr sz="1400" b="0" i="0" u="none" strike="noStrike" cap="none" spc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Игнатов Николай Николаевич.</a:t>
            </a:r>
            <a:endParaRPr sz="1400" b="0" i="0" u="none" strike="noStrike" cap="none" spc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Гуркало Артемий Романович.</a:t>
            </a:r>
            <a:endParaRPr sz="1400" b="0" i="0" u="none" strike="noStrike" cap="none" spc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1"/>
          <p:cNvSpPr/>
          <p:nvPr/>
        </p:nvSpPr>
        <p:spPr>
          <a:xfrm>
            <a:off x="6181489" y="3317886"/>
            <a:ext cx="2536800" cy="1464900"/>
          </a:xfrm>
          <a:prstGeom prst="roundRect">
            <a:avLst>
              <a:gd name="adj" fmla="val 16189"/>
            </a:avLst>
          </a:prstGeom>
          <a:noFill/>
          <a:ln w="9525" cap="flat" cmpd="sng">
            <a:solidFill>
              <a:srgbClr val="F25D9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Артем Витальевич Бенескул</a:t>
            </a:r>
            <a:endParaRPr sz="1400" b="0" i="0" u="none" strike="noStrike" cap="none" spc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31" name="Google Shape;531;p1"/>
          <p:cNvGrpSpPr/>
          <p:nvPr/>
        </p:nvGrpSpPr>
        <p:grpSpPr>
          <a:xfrm>
            <a:off x="6181489" y="2533678"/>
            <a:ext cx="2763522" cy="720131"/>
            <a:chOff x="579120" y="2415540"/>
            <a:chExt cx="5273040" cy="709522"/>
          </a:xfrm>
        </p:grpSpPr>
        <p:sp>
          <p:nvSpPr>
            <p:cNvPr id="532" name="Google Shape;532;p1"/>
            <p:cNvSpPr/>
            <p:nvPr/>
          </p:nvSpPr>
          <p:spPr>
            <a:xfrm>
              <a:off x="579120" y="2415540"/>
              <a:ext cx="5273040" cy="709522"/>
            </a:xfrm>
            <a:prstGeom prst="roundRect">
              <a:avLst>
                <a:gd name="adj" fmla="val 50000"/>
              </a:avLst>
            </a:prstGeom>
            <a:solidFill>
              <a:srgbClr val="F25D9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" name="Google Shape;533;p1"/>
            <p:cNvSpPr/>
            <p:nvPr/>
          </p:nvSpPr>
          <p:spPr>
            <a:xfrm>
              <a:off x="740146" y="2571750"/>
              <a:ext cx="4959614" cy="415290"/>
            </a:xfrm>
            <a:prstGeom prst="roundRect">
              <a:avLst>
                <a:gd name="adj" fmla="val 50000"/>
              </a:avLst>
            </a:prstGeom>
            <a:solidFill>
              <a:srgbClr val="F25D9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34" name="Google Shape;534;p1"/>
          <p:cNvSpPr txBox="1"/>
          <p:nvPr/>
        </p:nvSpPr>
        <p:spPr>
          <a:xfrm>
            <a:off x="6265880" y="2608442"/>
            <a:ext cx="2910778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1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Номинация: Мобильная разработка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0" name="Google Shape;540;p2" descr="В яблочко со сплошной заливкой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77933" y="-242361"/>
            <a:ext cx="1409298" cy="1409298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p2"/>
          <p:cNvSpPr/>
          <p:nvPr/>
        </p:nvSpPr>
        <p:spPr>
          <a:xfrm>
            <a:off x="403920" y="1290088"/>
            <a:ext cx="1331089" cy="388189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25D9C"/>
              </a:gs>
              <a:gs pos="100000">
                <a:srgbClr val="B61AAE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spc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2"/>
          <p:cNvSpPr/>
          <p:nvPr/>
        </p:nvSpPr>
        <p:spPr>
          <a:xfrm>
            <a:off x="426059" y="214052"/>
            <a:ext cx="6462244" cy="793976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ru-RU" sz="3200" b="1" i="0" u="none" strike="noStrike" cap="none" spc="0">
                <a:solidFill>
                  <a:srgbClr val="590D82"/>
                </a:solidFill>
                <a:latin typeface="Arial"/>
                <a:ea typeface="Arial"/>
                <a:cs typeface="Arial"/>
                <a:sym typeface="Arial"/>
              </a:rPr>
              <a:t>Цель и задачи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2"/>
          <p:cNvSpPr/>
          <p:nvPr/>
        </p:nvSpPr>
        <p:spPr>
          <a:xfrm>
            <a:off x="1823092" y="2031050"/>
            <a:ext cx="357300" cy="5220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 i="0" u="none" strike="noStrike" cap="none" spc="0">
                <a:solidFill>
                  <a:srgbClr val="F25D9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2"/>
          <p:cNvSpPr txBox="1"/>
          <p:nvPr/>
        </p:nvSpPr>
        <p:spPr>
          <a:xfrm>
            <a:off x="582532" y="1306538"/>
            <a:ext cx="858079" cy="34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 b="1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ЦЕЛЬ</a:t>
            </a:r>
            <a:endParaRPr sz="1800" b="0" i="0" u="none" strike="noStrike" cap="none" spc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2"/>
          <p:cNvSpPr txBox="1"/>
          <p:nvPr/>
        </p:nvSpPr>
        <p:spPr>
          <a:xfrm>
            <a:off x="2187045" y="1325846"/>
            <a:ext cx="6111900" cy="5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spc="0">
                <a:solidFill>
                  <a:srgbClr val="0C056D"/>
                </a:solidFill>
                <a:latin typeface="Arial"/>
                <a:ea typeface="Arial"/>
                <a:cs typeface="Arial"/>
                <a:sym typeface="Arial"/>
              </a:rPr>
              <a:t>Создание мобильного приложения, которое знакомит подростков 12–17 лет с основами программирования через игровую ферму.</a:t>
            </a:r>
            <a:r>
              <a:rPr lang="ru-RU" sz="1100" b="0" i="0" u="none" strike="noStrike" cap="none" spc="0">
                <a:solidFill>
                  <a:srgbClr val="CDD4E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 spc="0">
              <a:solidFill>
                <a:srgbClr val="CDD4E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2"/>
          <p:cNvSpPr/>
          <p:nvPr/>
        </p:nvSpPr>
        <p:spPr>
          <a:xfrm>
            <a:off x="403920" y="2188285"/>
            <a:ext cx="1331089" cy="388189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25D9C"/>
              </a:gs>
              <a:gs pos="100000">
                <a:srgbClr val="B61AAE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spc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2"/>
          <p:cNvSpPr txBox="1"/>
          <p:nvPr/>
        </p:nvSpPr>
        <p:spPr>
          <a:xfrm>
            <a:off x="582532" y="2204735"/>
            <a:ext cx="1082366" cy="34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 b="1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Задачи</a:t>
            </a:r>
            <a:endParaRPr sz="1800" b="0" i="0" u="none" strike="noStrike" cap="none" spc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2"/>
          <p:cNvSpPr txBox="1"/>
          <p:nvPr/>
        </p:nvSpPr>
        <p:spPr>
          <a:xfrm>
            <a:off x="2187045" y="2188285"/>
            <a:ext cx="6111900" cy="28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spc="0">
                <a:solidFill>
                  <a:srgbClr val="0C056D"/>
                </a:solidFill>
                <a:latin typeface="Arial"/>
                <a:ea typeface="Arial"/>
                <a:cs typeface="Arial"/>
                <a:sym typeface="Arial"/>
              </a:rPr>
              <a:t>Разработать 3 урока по теме «алгоритмы и порядок действий».</a:t>
            </a:r>
            <a:endParaRPr sz="1400" b="0" i="0" u="none" strike="noStrike" cap="none" spc="0">
              <a:solidFill>
                <a:srgbClr val="0C056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spc="0">
              <a:solidFill>
                <a:srgbClr val="0C056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spc="0">
                <a:solidFill>
                  <a:srgbClr val="0C056D"/>
                </a:solidFill>
                <a:latin typeface="Arial"/>
                <a:ea typeface="Arial"/>
                <a:cs typeface="Arial"/>
                <a:sym typeface="Arial"/>
              </a:rPr>
              <a:t>Реализовать 3 формата практических заданий.</a:t>
            </a:r>
            <a:endParaRPr sz="1400" b="0" i="0" u="none" strike="noStrike" cap="none" spc="0">
              <a:solidFill>
                <a:srgbClr val="0C056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spc="0">
              <a:solidFill>
                <a:srgbClr val="0C056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spc="0">
                <a:solidFill>
                  <a:srgbClr val="0C056D"/>
                </a:solidFill>
                <a:latin typeface="Arial"/>
                <a:ea typeface="Arial"/>
                <a:cs typeface="Arial"/>
                <a:sym typeface="Arial"/>
              </a:rPr>
              <a:t>Добавить геймификацию: перерождение, звезды, награды.</a:t>
            </a:r>
            <a:endParaRPr sz="1400" b="0" i="0" u="none" strike="noStrike" cap="none" spc="0">
              <a:solidFill>
                <a:srgbClr val="0C056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spc="0">
              <a:solidFill>
                <a:srgbClr val="0C056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152400" lvl="0" indent="0" algn="l" rtl="0">
              <a:lnSpc>
                <a:spcPct val="16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400" b="0" i="0" u="none" strike="noStrike" cap="none" spc="0">
                <a:solidFill>
                  <a:srgbClr val="0C056D"/>
                </a:solidFill>
                <a:latin typeface="Arial"/>
                <a:ea typeface="Arial"/>
                <a:cs typeface="Arial"/>
                <a:sym typeface="Arial"/>
              </a:rPr>
              <a:t>Сделать приложение мобильным (PWA).</a:t>
            </a:r>
            <a:endParaRPr sz="1400" b="0" i="0" u="none" strike="noStrike" cap="none" spc="0">
              <a:solidFill>
                <a:srgbClr val="0C056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b="0" i="0" u="none" strike="noStrike" cap="none" spc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 spc="0">
              <a:solidFill>
                <a:srgbClr val="0C056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2"/>
          <p:cNvSpPr/>
          <p:nvPr/>
        </p:nvSpPr>
        <p:spPr>
          <a:xfrm>
            <a:off x="1823054" y="2649189"/>
            <a:ext cx="357225" cy="463944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 i="0" u="none" strike="noStrike" cap="none" spc="0">
                <a:solidFill>
                  <a:srgbClr val="F25D9C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2"/>
          <p:cNvSpPr/>
          <p:nvPr/>
        </p:nvSpPr>
        <p:spPr>
          <a:xfrm>
            <a:off x="1823054" y="3209243"/>
            <a:ext cx="357300" cy="4344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 i="0" u="none" strike="noStrike" cap="none" spc="0">
                <a:solidFill>
                  <a:srgbClr val="F25D9C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2"/>
          <p:cNvSpPr/>
          <p:nvPr/>
        </p:nvSpPr>
        <p:spPr>
          <a:xfrm>
            <a:off x="1823042" y="3864574"/>
            <a:ext cx="357300" cy="4344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 i="0" u="none" strike="noStrike" cap="none" spc="0">
                <a:solidFill>
                  <a:srgbClr val="F25D9C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2" name="Google Shape;552;p2" descr="Picture backgroun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2082113" y="1616353"/>
            <a:ext cx="768634" cy="768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553" name="Google Shape;553;p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-1989253" y="2690879"/>
            <a:ext cx="605787" cy="605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554" name="Google Shape;554;p2" descr="Picture backgroun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-1989253" y="3776599"/>
            <a:ext cx="582663" cy="512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555" name="Google Shape;555;p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-1034334" y="1616352"/>
            <a:ext cx="654387" cy="654387"/>
          </a:xfrm>
          <a:prstGeom prst="rect">
            <a:avLst/>
          </a:prstGeom>
          <a:noFill/>
          <a:ln>
            <a:noFill/>
          </a:ln>
        </p:spPr>
      </p:pic>
      <p:pic>
        <p:nvPicPr>
          <p:cNvPr id="556" name="Google Shape;556;p2" descr="Picture backgroun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-1034334" y="2745010"/>
            <a:ext cx="582663" cy="5826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57" name="Google Shape;557;p2" descr="Picture background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-978251" y="3828473"/>
            <a:ext cx="470495" cy="47049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58" name="Google Shape;558;p2"/>
          <p:cNvCxnSpPr/>
          <p:nvPr/>
        </p:nvCxnSpPr>
        <p:spPr>
          <a:xfrm rot="10800000" flipH="1">
            <a:off x="587829" y="859971"/>
            <a:ext cx="2775857" cy="1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dash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4" name="Google Shape;564;p3" descr="Весы правосудия со сплошной заливкой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52914" y="-98925"/>
            <a:ext cx="1106953" cy="1106953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3"/>
          <p:cNvSpPr/>
          <p:nvPr/>
        </p:nvSpPr>
        <p:spPr>
          <a:xfrm>
            <a:off x="292160" y="1126910"/>
            <a:ext cx="3395920" cy="388189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25D9C"/>
              </a:gs>
              <a:gs pos="100000">
                <a:srgbClr val="B61AAE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spc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3"/>
          <p:cNvSpPr/>
          <p:nvPr/>
        </p:nvSpPr>
        <p:spPr>
          <a:xfrm>
            <a:off x="426059" y="214052"/>
            <a:ext cx="6462244" cy="793976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ru-RU" sz="3200" b="1" i="0" u="none" strike="noStrike" cap="none" spc="0">
                <a:solidFill>
                  <a:srgbClr val="590D82"/>
                </a:solidFill>
                <a:latin typeface="Arial"/>
                <a:ea typeface="Arial"/>
                <a:cs typeface="Arial"/>
                <a:sym typeface="Arial"/>
              </a:rPr>
              <a:t>Анализ аналогов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3"/>
          <p:cNvSpPr txBox="1"/>
          <p:nvPr/>
        </p:nvSpPr>
        <p:spPr>
          <a:xfrm>
            <a:off x="470773" y="1143360"/>
            <a:ext cx="3075067" cy="34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 b="1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Существующие решения</a:t>
            </a:r>
            <a:endParaRPr sz="1800" b="0" i="0" u="none" strike="noStrike" cap="none" spc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3"/>
          <p:cNvSpPr/>
          <p:nvPr/>
        </p:nvSpPr>
        <p:spPr>
          <a:xfrm>
            <a:off x="4653280" y="1126910"/>
            <a:ext cx="1920240" cy="388189"/>
          </a:xfrm>
          <a:prstGeom prst="roundRect">
            <a:avLst>
              <a:gd name="adj" fmla="val 50000"/>
            </a:avLst>
          </a:prstGeom>
          <a:noFill/>
          <a:ln w="25400" cap="flat" cmpd="sng">
            <a:solidFill>
              <a:srgbClr val="F25D9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spc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3"/>
          <p:cNvSpPr txBox="1"/>
          <p:nvPr/>
        </p:nvSpPr>
        <p:spPr>
          <a:xfrm>
            <a:off x="4831893" y="1143360"/>
            <a:ext cx="1660347" cy="34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 b="1" i="0" u="none" strike="noStrike" cap="none" spc="0">
                <a:solidFill>
                  <a:srgbClr val="B61AAE"/>
                </a:solidFill>
                <a:latin typeface="Arial"/>
                <a:ea typeface="Arial"/>
                <a:cs typeface="Arial"/>
                <a:sym typeface="Arial"/>
              </a:rPr>
              <a:t>Недостатки</a:t>
            </a:r>
            <a:endParaRPr sz="1800" b="0" i="0" u="none" strike="noStrike" cap="none" spc="0">
              <a:solidFill>
                <a:srgbClr val="B61AA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70" name="Google Shape;570;p3"/>
          <p:cNvGraphicFramePr/>
          <p:nvPr/>
        </p:nvGraphicFramePr>
        <p:xfrm>
          <a:off x="426059" y="1680055"/>
          <a:ext cx="8199775" cy="1818660"/>
        </p:xfrm>
        <a:graphic>
          <a:graphicData uri="http://schemas.openxmlformats.org/drawingml/2006/table">
            <a:tbl>
              <a:tblPr firstRow="1" bandRow="1">
                <a:noFill/>
                <a:tableStyleId>{F49541A1-EC09-42E9-8AD2-F4AEE8F2B24E}</a:tableStyleId>
              </a:tblPr>
              <a:tblGrid>
                <a:gridCol w="4135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3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-RU" sz="1400" b="1" u="none" strike="noStrike" cap="none" spc="0">
                          <a:solidFill>
                            <a:srgbClr val="0C056D"/>
                          </a:solidFill>
                        </a:rPr>
                        <a:t>Название аналогичного решения</a:t>
                      </a:r>
                      <a:endParaRPr sz="1400" u="none" strike="noStrike" cap="none" spc="0">
                        <a:solidFill>
                          <a:srgbClr val="0C056D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-RU" sz="1400" b="0" u="none" strike="noStrike" cap="none" spc="0">
                          <a:solidFill>
                            <a:srgbClr val="0C056D"/>
                          </a:solidFill>
                        </a:rPr>
                        <a:t>Краткое описание аналогичного решения практического применения современных цифровых компетенций в решении реальных технологических задач партнеров применения современных цифровых</a:t>
                      </a:r>
                      <a:endParaRPr sz="1400" u="none" strike="noStrike" cap="none" spc="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25D9C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ru-RU" sz="1400" b="0" u="none" strike="noStrike" cap="none" spc="0">
                          <a:solidFill>
                            <a:srgbClr val="0C056D"/>
                          </a:solidFill>
                        </a:rPr>
                        <a:t>Краткое описание аналогичного решения</a:t>
                      </a:r>
                      <a:endParaRPr sz="1400" u="none" strike="noStrike" cap="none" spc="0"/>
                    </a:p>
                    <a:p>
                      <a:pPr marL="285750" marR="0" lvl="0" indent="-2857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25D9C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ru-RU" sz="1400" b="0" u="none" strike="noStrike" cap="none" spc="0">
                          <a:solidFill>
                            <a:srgbClr val="0C056D"/>
                          </a:solidFill>
                        </a:rPr>
                        <a:t>Практического применения современных цифровых компетенций в решении</a:t>
                      </a:r>
                      <a:endParaRPr sz="1400" u="none" strike="noStrike" cap="none" spc="0"/>
                    </a:p>
                    <a:p>
                      <a:pPr marL="285750" marR="0" lvl="0" indent="-2857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25D9C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ru-RU" sz="1400" b="0" u="none" strike="noStrike" cap="none" spc="0">
                          <a:solidFill>
                            <a:srgbClr val="0C056D"/>
                          </a:solidFill>
                        </a:rPr>
                        <a:t>Реальных технологических задач партнеров применения современных</a:t>
                      </a:r>
                      <a:endParaRPr sz="1400" u="none" strike="noStrike" cap="none" spc="0"/>
                    </a:p>
                    <a:p>
                      <a:pPr marL="285750" marR="0" lvl="0" indent="-2857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25D9C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ru-RU" sz="1400" b="0" u="none" strike="noStrike" cap="none" spc="0">
                          <a:solidFill>
                            <a:srgbClr val="0C056D"/>
                          </a:solidFill>
                        </a:rPr>
                        <a:t>Цифровых компетенций в решении</a:t>
                      </a:r>
                      <a:endParaRPr sz="1400" u="none" strike="noStrike" cap="none" spc="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u="none" strike="noStrike" cap="none" spc="0">
                        <a:solidFill>
                          <a:srgbClr val="0C056D"/>
                        </a:solidFill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85750" marR="0" lvl="0" indent="-1968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25D9C"/>
                        </a:buClr>
                        <a:buSzPts val="1400"/>
                        <a:buFont typeface="Arial"/>
                        <a:buNone/>
                      </a:pPr>
                      <a:endParaRPr sz="1400" b="0" u="none" strike="noStrike" cap="none" spc="0">
                        <a:solidFill>
                          <a:srgbClr val="0C056D"/>
                        </a:solidFill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71" name="Google Shape;571;p3"/>
          <p:cNvSpPr txBox="1"/>
          <p:nvPr/>
        </p:nvSpPr>
        <p:spPr>
          <a:xfrm>
            <a:off x="426050" y="3540700"/>
            <a:ext cx="1592100" cy="15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spc="0">
                <a:solidFill>
                  <a:srgbClr val="0C056D"/>
                </a:solidFill>
                <a:latin typeface="Arial"/>
                <a:ea typeface="Arial"/>
                <a:cs typeface="Arial"/>
                <a:sym typeface="Arial"/>
              </a:rPr>
              <a:t>«Код будущего»</a:t>
            </a:r>
            <a:endParaRPr sz="1400" b="0" i="0" u="none" strike="noStrike" cap="none" spc="0">
              <a:solidFill>
                <a:srgbClr val="0C056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spc="0">
                <a:solidFill>
                  <a:srgbClr val="0C056D"/>
                </a:solidFill>
                <a:latin typeface="Arial"/>
                <a:ea typeface="Arial"/>
                <a:cs typeface="Arial"/>
                <a:sym typeface="Arial"/>
              </a:rPr>
              <a:t>• Code.org</a:t>
            </a:r>
            <a:endParaRPr sz="1400" b="0" i="0" u="none" strike="noStrike" cap="none" spc="0">
              <a:solidFill>
                <a:srgbClr val="0C056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spc="0">
                <a:solidFill>
                  <a:srgbClr val="0C056D"/>
                </a:solidFill>
                <a:latin typeface="Arial"/>
                <a:ea typeface="Arial"/>
                <a:cs typeface="Arial"/>
                <a:sym typeface="Arial"/>
              </a:rPr>
              <a:t>• Scratch</a:t>
            </a:r>
            <a:endParaRPr sz="1400" b="0" i="0" u="none" strike="noStrike" cap="none" spc="0">
              <a:solidFill>
                <a:srgbClr val="0C056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spc="0">
                <a:solidFill>
                  <a:srgbClr val="0C056D"/>
                </a:solidFill>
                <a:latin typeface="Arial"/>
                <a:ea typeface="Arial"/>
                <a:cs typeface="Arial"/>
                <a:sym typeface="Arial"/>
              </a:rPr>
              <a:t>• Duolingo</a:t>
            </a:r>
            <a:endParaRPr sz="1400" b="0" i="0" u="none" strike="noStrike" cap="none" spc="0">
              <a:solidFill>
                <a:srgbClr val="0C056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152400" lvl="0" indent="0" algn="l" rtl="0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400" b="0" i="0" u="none" strike="noStrike" cap="none" spc="0">
                <a:solidFill>
                  <a:srgbClr val="0C056D"/>
                </a:solidFill>
                <a:latin typeface="Arial"/>
                <a:ea typeface="Arial"/>
                <a:cs typeface="Arial"/>
                <a:sym typeface="Arial"/>
              </a:rPr>
              <a:t>• Kahoot!</a:t>
            </a:r>
            <a:endParaRPr sz="1400" b="0" i="0" u="none" strike="noStrike" cap="none" spc="0">
              <a:solidFill>
                <a:srgbClr val="0C056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3"/>
          <p:cNvSpPr txBox="1"/>
          <p:nvPr/>
        </p:nvSpPr>
        <p:spPr>
          <a:xfrm>
            <a:off x="2579025" y="3540700"/>
            <a:ext cx="2899500" cy="15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spc="0">
                <a:solidFill>
                  <a:srgbClr val="0C056D"/>
                </a:solidFill>
                <a:latin typeface="Arial"/>
                <a:ea typeface="Arial"/>
                <a:cs typeface="Arial"/>
                <a:sym typeface="Arial"/>
              </a:rPr>
              <a:t>• Код будущего — долго (2 года), не мобильно</a:t>
            </a:r>
            <a:endParaRPr sz="1400" b="0" i="0" u="none" strike="noStrike" cap="none" spc="0">
              <a:solidFill>
                <a:srgbClr val="0C056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spc="0">
                <a:solidFill>
                  <a:srgbClr val="0C056D"/>
                </a:solidFill>
                <a:latin typeface="Arial"/>
                <a:ea typeface="Arial"/>
                <a:cs typeface="Arial"/>
                <a:sym typeface="Arial"/>
              </a:rPr>
              <a:t>• Code.org — веб, на английском</a:t>
            </a:r>
            <a:endParaRPr sz="1400" b="0" i="0" u="none" strike="noStrike" cap="none" spc="0">
              <a:solidFill>
                <a:srgbClr val="0C056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spc="0">
                <a:solidFill>
                  <a:srgbClr val="0C056D"/>
                </a:solidFill>
                <a:latin typeface="Arial"/>
                <a:ea typeface="Arial"/>
                <a:cs typeface="Arial"/>
                <a:sym typeface="Arial"/>
              </a:rPr>
              <a:t>• Scratch — веб, не под телефон</a:t>
            </a:r>
            <a:endParaRPr sz="1400" b="0" i="0" u="none" strike="noStrike" cap="none" spc="0">
              <a:solidFill>
                <a:srgbClr val="0C056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spc="0">
                <a:solidFill>
                  <a:srgbClr val="0C056D"/>
                </a:solidFill>
                <a:latin typeface="Arial"/>
                <a:ea typeface="Arial"/>
                <a:cs typeface="Arial"/>
                <a:sym typeface="Arial"/>
              </a:rPr>
              <a:t>• Duolingo — не учит программированию</a:t>
            </a:r>
            <a:endParaRPr sz="1400" b="0" i="0" u="none" strike="noStrike" cap="none" spc="0">
              <a:solidFill>
                <a:srgbClr val="0C056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spc="0">
                <a:solidFill>
                  <a:srgbClr val="0C056D"/>
                </a:solidFill>
                <a:latin typeface="Arial"/>
                <a:ea typeface="Arial"/>
                <a:cs typeface="Arial"/>
                <a:sym typeface="Arial"/>
              </a:rPr>
              <a:t>• Kahoot! — только тесты </a:t>
            </a:r>
            <a:endParaRPr sz="1400" b="0" i="0" u="none" strike="noStrike" cap="none" spc="0">
              <a:solidFill>
                <a:srgbClr val="0C056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 spc="0">
              <a:solidFill>
                <a:srgbClr val="0C056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3"/>
          <p:cNvSpPr txBox="1"/>
          <p:nvPr/>
        </p:nvSpPr>
        <p:spPr>
          <a:xfrm>
            <a:off x="5813750" y="3498700"/>
            <a:ext cx="2860200" cy="15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 spc="0">
                <a:solidFill>
                  <a:srgbClr val="0C056D"/>
                </a:solidFill>
                <a:latin typeface="Arial"/>
                <a:ea typeface="Arial"/>
                <a:cs typeface="Arial"/>
                <a:sym typeface="Arial"/>
              </a:rPr>
              <a:t>Пример аналога </a:t>
            </a:r>
            <a:r>
              <a:rPr lang="ru-RU" sz="1400" b="1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— </a:t>
            </a:r>
            <a:r>
              <a:rPr lang="ru-RU" sz="1400" b="0" i="0" u="none" strike="noStrike" cap="none" spc="0">
                <a:solidFill>
                  <a:srgbClr val="0C056D"/>
                </a:solidFill>
                <a:latin typeface="Arial"/>
                <a:ea typeface="Arial"/>
                <a:cs typeface="Arial"/>
                <a:sym typeface="Arial"/>
              </a:rPr>
              <a:t>Duolingo</a:t>
            </a:r>
            <a:endParaRPr sz="1400" b="0" i="0" u="none" strike="noStrike" cap="none" spc="0">
              <a:solidFill>
                <a:srgbClr val="0C056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spc="0">
                <a:solidFill>
                  <a:srgbClr val="0C056D"/>
                </a:solidFill>
                <a:latin typeface="Arial"/>
                <a:ea typeface="Arial"/>
                <a:cs typeface="Arial"/>
                <a:sym typeface="Arial"/>
              </a:rPr>
              <a:t>Геймифицированное приложение для изучения языков.</a:t>
            </a:r>
            <a:endParaRPr sz="1400" b="0" i="0" u="none" strike="noStrike" cap="none" spc="0">
              <a:solidFill>
                <a:srgbClr val="0C056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spc="0">
                <a:solidFill>
                  <a:srgbClr val="0C056D"/>
                </a:solidFill>
                <a:latin typeface="Arial"/>
                <a:ea typeface="Arial"/>
                <a:cs typeface="Arial"/>
                <a:sym typeface="Arial"/>
              </a:rPr>
              <a:t>Использует сердца, серии, достижения.</a:t>
            </a:r>
            <a:endParaRPr sz="1400" b="0" i="0" u="none" strike="noStrike" cap="none" spc="0">
              <a:solidFill>
                <a:srgbClr val="0C056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2400" marR="152400" lvl="0" indent="0" algn="l" rtl="0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400" b="0" i="0" u="none" strike="noStrike" cap="none" spc="0">
                <a:solidFill>
                  <a:srgbClr val="0C056D"/>
                </a:solidFill>
                <a:latin typeface="Arial"/>
                <a:ea typeface="Arial"/>
                <a:cs typeface="Arial"/>
                <a:sym typeface="Arial"/>
              </a:rPr>
              <a:t>НО: не учит </a:t>
            </a:r>
            <a:r>
              <a:rPr lang="ru-RU" sz="1000" b="0" i="0" u="none" strike="noStrike" cap="none" spc="0">
                <a:solidFill>
                  <a:srgbClr val="F9FAFB"/>
                </a:solidFill>
                <a:latin typeface="Roboto Mono"/>
                <a:ea typeface="Roboto Mono"/>
                <a:cs typeface="Roboto Mono"/>
                <a:sym typeface="Roboto Mono"/>
              </a:rPr>
              <a:t>программированию.</a:t>
            </a:r>
            <a:endParaRPr sz="1000" b="0" i="0" u="none" strike="noStrike" cap="none" spc="0">
              <a:solidFill>
                <a:srgbClr val="F9FAFB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 spc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4" name="Google Shape;574;p3"/>
          <p:cNvCxnSpPr/>
          <p:nvPr/>
        </p:nvCxnSpPr>
        <p:spPr>
          <a:xfrm rot="10800000" flipH="1">
            <a:off x="587829" y="849086"/>
            <a:ext cx="3352800" cy="10886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dash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4"/>
          <p:cNvSpPr/>
          <p:nvPr/>
        </p:nvSpPr>
        <p:spPr>
          <a:xfrm>
            <a:off x="292160" y="1126910"/>
            <a:ext cx="1628080" cy="388189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25D9C"/>
              </a:gs>
              <a:gs pos="100000">
                <a:srgbClr val="B61AAE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spc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4"/>
          <p:cNvSpPr/>
          <p:nvPr/>
        </p:nvSpPr>
        <p:spPr>
          <a:xfrm>
            <a:off x="426059" y="214052"/>
            <a:ext cx="6462244" cy="793976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ru-RU" sz="3200" b="1" i="0" u="none" strike="noStrike" cap="none" spc="0">
                <a:solidFill>
                  <a:srgbClr val="590D82"/>
                </a:solidFill>
                <a:latin typeface="Arial"/>
                <a:ea typeface="Arial"/>
                <a:cs typeface="Arial"/>
                <a:sym typeface="Arial"/>
              </a:rPr>
              <a:t>Конкурентные преимущества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4"/>
          <p:cNvSpPr txBox="1"/>
          <p:nvPr/>
        </p:nvSpPr>
        <p:spPr>
          <a:xfrm>
            <a:off x="470773" y="1143360"/>
            <a:ext cx="1358027" cy="34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 b="1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Аналоги</a:t>
            </a:r>
            <a:endParaRPr sz="1800" b="0" i="0" u="none" strike="noStrike" cap="none" spc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4"/>
          <p:cNvSpPr/>
          <p:nvPr/>
        </p:nvSpPr>
        <p:spPr>
          <a:xfrm>
            <a:off x="3202853" y="1126910"/>
            <a:ext cx="5470374" cy="388189"/>
          </a:xfrm>
          <a:prstGeom prst="roundRect">
            <a:avLst>
              <a:gd name="adj" fmla="val 50000"/>
            </a:avLst>
          </a:prstGeom>
          <a:noFill/>
          <a:ln w="25400" cap="flat" cmpd="sng">
            <a:solidFill>
              <a:srgbClr val="F25D9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spc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4"/>
          <p:cNvSpPr txBox="1"/>
          <p:nvPr/>
        </p:nvSpPr>
        <p:spPr>
          <a:xfrm>
            <a:off x="3381466" y="1143360"/>
            <a:ext cx="4737775" cy="34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 b="1" i="0" u="none" strike="noStrike" cap="none" spc="0">
                <a:solidFill>
                  <a:srgbClr val="B61AAE"/>
                </a:solidFill>
                <a:latin typeface="Arial"/>
                <a:ea typeface="Arial"/>
                <a:cs typeface="Arial"/>
                <a:sym typeface="Arial"/>
              </a:rPr>
              <a:t>Преимущества нашего решения</a:t>
            </a:r>
            <a:endParaRPr sz="1800" b="0" i="0" u="none" strike="noStrike" cap="none" spc="0">
              <a:solidFill>
                <a:srgbClr val="B61AA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85" name="Google Shape;585;p4"/>
          <p:cNvGraphicFramePr/>
          <p:nvPr/>
        </p:nvGraphicFramePr>
        <p:xfrm>
          <a:off x="426059" y="1680055"/>
          <a:ext cx="8199775" cy="2743220"/>
        </p:xfrm>
        <a:graphic>
          <a:graphicData uri="http://schemas.openxmlformats.org/drawingml/2006/table">
            <a:tbl>
              <a:tblPr firstRow="1" bandRow="1">
                <a:noFill/>
                <a:tableStyleId>{F49541A1-EC09-42E9-8AD2-F4AEE8F2B24E}</a:tableStyleId>
              </a:tblPr>
              <a:tblGrid>
                <a:gridCol w="2764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3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3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1" i="0" u="none" strike="noStrike" cap="none" spc="0">
                          <a:solidFill>
                            <a:schemeClr val="lt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Код будущего — </a:t>
                      </a:r>
                      <a:r>
                        <a:rPr lang="ru-RU" sz="1400" b="0" i="0" u="none" strike="noStrike" cap="none" spc="0">
                          <a:solidFill>
                            <a:schemeClr val="lt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курсы, 2 года, не мобильно.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1" i="0" u="none" strike="noStrike" cap="none" spc="0">
                          <a:solidFill>
                            <a:schemeClr val="lt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Code.org — </a:t>
                      </a:r>
                      <a:r>
                        <a:rPr lang="ru-RU" sz="1400" b="0" i="0" u="none" strike="noStrike" cap="none" spc="0">
                          <a:solidFill>
                            <a:schemeClr val="lt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веб, английский</a:t>
                      </a:r>
                      <a:r>
                        <a:rPr lang="ru-RU" sz="1400" b="1" i="0" u="none" strike="noStrike" cap="none" spc="0">
                          <a:solidFill>
                            <a:schemeClr val="lt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1" i="0" u="none" strike="noStrike" cap="none" spc="0">
                          <a:solidFill>
                            <a:schemeClr val="lt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Scratch — </a:t>
                      </a:r>
                      <a:r>
                        <a:rPr lang="ru-RU" sz="1400" b="0" i="0" u="none" strike="noStrike" cap="none" spc="0">
                          <a:solidFill>
                            <a:schemeClr val="lt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веб.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1" i="0" u="none" strike="noStrike" cap="none" spc="0">
                          <a:solidFill>
                            <a:schemeClr val="lt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Duolingo — </a:t>
                      </a:r>
                      <a:r>
                        <a:rPr lang="ru-RU" sz="1400" b="0" i="0" u="none" strike="noStrike" cap="none" spc="0">
                          <a:solidFill>
                            <a:schemeClr val="lt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геймификация, но не программирование.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1" i="0" u="none" strike="noStrike" cap="none" spc="0">
                          <a:solidFill>
                            <a:schemeClr val="lt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Kahoot! — </a:t>
                      </a:r>
                      <a:r>
                        <a:rPr lang="ru-RU" sz="1400" b="0" i="0" u="none" strike="noStrike" cap="none" spc="0">
                          <a:solidFill>
                            <a:schemeClr val="lt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тесты, не программирование.</a:t>
                      </a:r>
                      <a:endParaRPr sz="1400" b="0" i="0" u="none" strike="noStrike" cap="none" spc="0">
                        <a:solidFill>
                          <a:schemeClr val="lt2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1" i="0" u="none" strike="noStrike" cap="none" spc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Мобильность</a:t>
                      </a:r>
                      <a:r>
                        <a:rPr lang="ru-RU" sz="1400" b="0" i="0" u="none" strike="noStrike" cap="none" spc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— работает в браузере телефона, не нужно скачивать.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1" i="0" u="none" strike="noStrike" cap="none" spc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Короткий формат</a:t>
                      </a:r>
                      <a:r>
                        <a:rPr lang="ru-RU" sz="1400" b="0" i="0" u="none" strike="noStrike" cap="none" spc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— урок 3–5 минут, быстрый результат.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1" i="0" u="none" strike="noStrike" cap="none" spc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Геймификация, связанная с обучением</a:t>
                      </a:r>
                      <a:r>
                        <a:rPr lang="ru-RU" sz="1400" b="0" i="0" u="none" strike="noStrike" cap="none" spc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— перерождение героя учит не бояться ошибок.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1" i="0" u="none" strike="noStrike" cap="none" spc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Понятная метафора</a:t>
                      </a:r>
                      <a:r>
                        <a:rPr lang="ru-RU" sz="1400" b="0" i="0" u="none" strike="noStrike" cap="none" spc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— ферма, знакомая ситуация.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1" i="0" u="none" strike="noStrike" cap="none" spc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Три формата заданий</a:t>
                      </a:r>
                      <a:r>
                        <a:rPr lang="ru-RU" sz="1400" b="0" i="0" u="none" strike="noStrike" cap="none" spc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— сборка, пропуск, исправление.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1" i="0" u="none" strike="noStrike" cap="none" spc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Визуальная обратная связь</a:t>
                      </a:r>
                      <a:r>
                        <a:rPr lang="ru-RU" sz="1400" b="0" i="0" u="none" strike="noStrike" cap="none" spc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— урожай растёт или вянет, результат виден сразу.</a:t>
                      </a:r>
                      <a:endParaRPr sz="1400" b="0" i="0" u="none" strike="noStrike" cap="none" spc="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-RU" sz="1400" b="1" u="none" strike="noStrike" cap="none" spc="0">
                          <a:solidFill>
                            <a:srgbClr val="1F3864"/>
                          </a:solidFill>
                        </a:rPr>
                        <a:t>Вывод:</a:t>
                      </a:r>
                      <a:endParaRPr sz="1400" b="1" u="none" strike="noStrike" cap="none" spc="0">
                        <a:solidFill>
                          <a:srgbClr val="1F3864"/>
                        </a:solidFill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25D9C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ru-RU" sz="1400" b="0" i="0" u="none" strike="noStrike" cap="none" spc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«Поле» — единственное решение, которое совмещает </a:t>
                      </a:r>
                      <a:r>
                        <a:rPr lang="ru-RU" sz="1400" b="1" i="0" u="none" strike="noStrike" cap="none" spc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мобильность, геймификацию и обучение программированию</a:t>
                      </a:r>
                      <a:endParaRPr sz="1400" u="none" strike="noStrike" cap="none" spc="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586" name="Google Shape;586;p4"/>
          <p:cNvCxnSpPr/>
          <p:nvPr/>
        </p:nvCxnSpPr>
        <p:spPr>
          <a:xfrm rot="10800000" flipH="1">
            <a:off x="587829" y="827314"/>
            <a:ext cx="5900057" cy="32657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dash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4" name="Google Shape;564;p3" descr="Весы правосудия со сплошной заливкой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52914" y="-98925"/>
            <a:ext cx="1106953" cy="1106953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3"/>
          <p:cNvSpPr/>
          <p:nvPr/>
        </p:nvSpPr>
        <p:spPr>
          <a:xfrm>
            <a:off x="292160" y="1126910"/>
            <a:ext cx="3395920" cy="388189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25D9C"/>
              </a:gs>
              <a:gs pos="100000">
                <a:srgbClr val="B61AAE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spc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3"/>
          <p:cNvSpPr/>
          <p:nvPr/>
        </p:nvSpPr>
        <p:spPr>
          <a:xfrm>
            <a:off x="426059" y="214052"/>
            <a:ext cx="6462244" cy="793976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ru-RU" sz="3200" b="1" dirty="0" smtClean="0">
                <a:solidFill>
                  <a:srgbClr val="590D82"/>
                </a:solidFill>
              </a:rPr>
              <a:t>Форматы заданий</a:t>
            </a:r>
            <a:endParaRPr sz="1400" b="0" i="0" u="none" strike="noStrike" cap="none" spc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3"/>
          <p:cNvSpPr txBox="1"/>
          <p:nvPr/>
        </p:nvSpPr>
        <p:spPr>
          <a:xfrm>
            <a:off x="470773" y="1143360"/>
            <a:ext cx="3075067" cy="34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 b="1" i="0" u="none" strike="noStrike" cap="none" spc="0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Формат</a:t>
            </a:r>
            <a:endParaRPr sz="1800" b="0" i="0" u="none" strike="noStrike" cap="none" spc="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3"/>
          <p:cNvSpPr/>
          <p:nvPr/>
        </p:nvSpPr>
        <p:spPr>
          <a:xfrm>
            <a:off x="4653280" y="1126910"/>
            <a:ext cx="1920240" cy="388189"/>
          </a:xfrm>
          <a:prstGeom prst="roundRect">
            <a:avLst>
              <a:gd name="adj" fmla="val 50000"/>
            </a:avLst>
          </a:prstGeom>
          <a:noFill/>
          <a:ln w="25400" cap="flat" cmpd="sng">
            <a:solidFill>
              <a:srgbClr val="F25D9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spc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3"/>
          <p:cNvSpPr txBox="1"/>
          <p:nvPr/>
        </p:nvSpPr>
        <p:spPr>
          <a:xfrm>
            <a:off x="4831893" y="1143360"/>
            <a:ext cx="1660347" cy="34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 b="1" dirty="0" smtClean="0">
                <a:solidFill>
                  <a:srgbClr val="B61AAE"/>
                </a:solidFill>
              </a:rPr>
              <a:t>Примеры</a:t>
            </a:r>
            <a:endParaRPr sz="1800" b="0" i="0" u="none" strike="noStrike" cap="none" spc="0" dirty="0">
              <a:solidFill>
                <a:srgbClr val="B61AA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70" name="Google Shape;570;p3"/>
          <p:cNvGraphicFramePr/>
          <p:nvPr>
            <p:extLst>
              <p:ext uri="{D42A27DB-BD31-4B8C-83A1-F6EECF244321}">
                <p14:modId xmlns:p14="http://schemas.microsoft.com/office/powerpoint/2010/main" val="3208336880"/>
              </p:ext>
            </p:extLst>
          </p:nvPr>
        </p:nvGraphicFramePr>
        <p:xfrm>
          <a:off x="426059" y="1680055"/>
          <a:ext cx="8199775" cy="1305909"/>
        </p:xfrm>
        <a:graphic>
          <a:graphicData uri="http://schemas.openxmlformats.org/drawingml/2006/table">
            <a:tbl>
              <a:tblPr firstRow="1" bandRow="1">
                <a:noFill/>
                <a:tableStyleId>{F49541A1-EC09-42E9-8AD2-F4AEE8F2B24E}</a:tableStyleId>
              </a:tblPr>
              <a:tblGrid>
                <a:gridCol w="4135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198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-RU" sz="1400" b="1" u="none" strike="noStrike" cap="none" spc="0" dirty="0" smtClean="0">
                          <a:solidFill>
                            <a:srgbClr val="0C056D"/>
                          </a:solidFill>
                        </a:rPr>
                        <a:t>Сборка</a:t>
                      </a:r>
                      <a:r>
                        <a:rPr lang="ru-RU" sz="1400" b="0" u="none" strike="noStrike" cap="none" spc="0" dirty="0" smtClean="0">
                          <a:solidFill>
                            <a:srgbClr val="0C056D"/>
                          </a:solidFill>
                        </a:rPr>
                        <a:t> – собрать программу из блоков.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-RU" sz="1400" b="1" u="none" strike="noStrike" cap="none" spc="0" dirty="0" smtClean="0">
                          <a:solidFill>
                            <a:srgbClr val="0C056D"/>
                          </a:solidFill>
                        </a:rPr>
                        <a:t>Пропуск</a:t>
                      </a:r>
                      <a:r>
                        <a:rPr lang="ru-RU" sz="1400" b="0" u="none" strike="noStrike" cap="none" spc="0" baseline="0" dirty="0" smtClean="0">
                          <a:solidFill>
                            <a:srgbClr val="0C056D"/>
                          </a:solidFill>
                        </a:rPr>
                        <a:t> – вставить пропавшую команду.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-RU" sz="1400" b="1" u="none" strike="noStrike" cap="none" spc="0" baseline="0" dirty="0" smtClean="0">
                          <a:solidFill>
                            <a:srgbClr val="0C056D"/>
                          </a:solidFill>
                        </a:rPr>
                        <a:t>Исправление</a:t>
                      </a:r>
                      <a:r>
                        <a:rPr lang="ru-RU" sz="1400" b="0" u="none" strike="noStrike" cap="none" spc="0" baseline="0" dirty="0" smtClean="0">
                          <a:solidFill>
                            <a:srgbClr val="0C056D"/>
                          </a:solidFill>
                        </a:rPr>
                        <a:t> – найти и починить ошибку.</a:t>
                      </a:r>
                      <a:endParaRPr sz="1400" b="0" u="none" strike="noStrike" cap="none" spc="0" dirty="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25D9C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ru-RU" sz="1400" b="1" i="0" u="none" strike="noStrike" cap="none" spc="0" dirty="0" smtClean="0">
                          <a:solidFill>
                            <a:srgbClr val="00206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Сборка</a:t>
                      </a:r>
                      <a:r>
                        <a:rPr lang="ru-RU" sz="1400" b="0" i="0" u="none" strike="noStrike" cap="none" spc="0" dirty="0" smtClean="0">
                          <a:solidFill>
                            <a:srgbClr val="00206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: Вспахать → Посадить → Полить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25D9C"/>
                        </a:buClr>
                        <a:buSzPts val="1400"/>
                        <a:buFont typeface="Arial"/>
                        <a:buChar char="●"/>
                        <a:tabLst/>
                        <a:defRPr/>
                      </a:pPr>
                      <a:r>
                        <a:rPr lang="ru-RU" sz="1400" b="1" i="0" u="none" strike="noStrike" cap="none" spc="0" dirty="0" smtClean="0">
                          <a:solidFill>
                            <a:srgbClr val="00206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Пропуск:</a:t>
                      </a:r>
                      <a:r>
                        <a:rPr lang="ru-RU" sz="1400" b="0" i="0" u="none" strike="noStrike" cap="none" spc="0" dirty="0" smtClean="0">
                          <a:solidFill>
                            <a:srgbClr val="00206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 Вспахать → ? → Полить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25D9C"/>
                        </a:buClr>
                        <a:buSzPts val="1400"/>
                        <a:buFont typeface="Arial"/>
                        <a:buChar char="●"/>
                        <a:tabLst/>
                        <a:defRPr/>
                      </a:pPr>
                      <a:r>
                        <a:rPr lang="ru-RU" sz="1400" b="1" i="0" u="none" strike="noStrike" cap="none" spc="0" dirty="0" smtClean="0">
                          <a:solidFill>
                            <a:srgbClr val="00206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Исправление</a:t>
                      </a:r>
                      <a:r>
                        <a:rPr lang="ru-RU" sz="1400" b="0" i="0" u="none" strike="noStrike" cap="none" spc="0" dirty="0" smtClean="0">
                          <a:solidFill>
                            <a:srgbClr val="00206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: Вспахать → Полить → Посадить — найди ошибку</a:t>
                      </a: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01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u="none" strike="noStrike" cap="none" spc="0">
                        <a:solidFill>
                          <a:srgbClr val="0C056D"/>
                        </a:solidFill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85750" marR="0" lvl="0" indent="-1968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25D9C"/>
                        </a:buClr>
                        <a:buSzPts val="1400"/>
                        <a:buFont typeface="Arial"/>
                        <a:buNone/>
                      </a:pPr>
                      <a:endParaRPr sz="1400" b="0" u="none" strike="noStrike" cap="none" spc="0" dirty="0">
                        <a:solidFill>
                          <a:srgbClr val="0C056D"/>
                        </a:solidFill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574" name="Google Shape;574;p3"/>
          <p:cNvCxnSpPr/>
          <p:nvPr/>
        </p:nvCxnSpPr>
        <p:spPr>
          <a:xfrm flipV="1">
            <a:off x="587829" y="849086"/>
            <a:ext cx="3614057" cy="10886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dash"/>
            <a:round/>
            <a:headEnd type="none" w="sm" len="sm"/>
            <a:tailEnd type="none" w="sm" len="sm"/>
          </a:ln>
        </p:spPr>
      </p:cxnSp>
      <p:pic>
        <p:nvPicPr>
          <p:cNvPr id="14" name="Google Shape;615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492816" y="3058764"/>
            <a:ext cx="4038656" cy="204659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498424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5"/>
          <p:cNvSpPr/>
          <p:nvPr/>
        </p:nvSpPr>
        <p:spPr>
          <a:xfrm>
            <a:off x="2752913" y="692063"/>
            <a:ext cx="3878272" cy="1164773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ru-RU" sz="3600" b="1" i="0" u="none" strike="noStrike" cap="none" spc="0">
                <a:solidFill>
                  <a:srgbClr val="590D82"/>
                </a:solidFill>
                <a:latin typeface="Arial"/>
                <a:ea typeface="Arial"/>
                <a:cs typeface="Arial"/>
                <a:sym typeface="Arial"/>
              </a:rPr>
              <a:t>Этапы работы</a:t>
            </a:r>
            <a:endParaRPr sz="36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3" name="Google Shape;593;p5"/>
          <p:cNvCxnSpPr/>
          <p:nvPr/>
        </p:nvCxnSpPr>
        <p:spPr>
          <a:xfrm>
            <a:off x="2906486" y="1524000"/>
            <a:ext cx="3281308" cy="0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594" name="Google Shape;594;p5"/>
          <p:cNvSpPr txBox="1"/>
          <p:nvPr/>
        </p:nvSpPr>
        <p:spPr>
          <a:xfrm>
            <a:off x="766233" y="2673932"/>
            <a:ext cx="1685869" cy="328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1" i="0" u="none" strike="noStrike" cap="none" spc="0">
                <a:solidFill>
                  <a:srgbClr val="0C056D"/>
                </a:solidFill>
                <a:latin typeface="Arial"/>
                <a:ea typeface="Arial"/>
                <a:cs typeface="Arial"/>
                <a:sym typeface="Arial"/>
              </a:rPr>
              <a:t>Подготовка</a:t>
            </a:r>
            <a:endParaRPr sz="1400" b="0" i="0" u="none" strike="noStrike" cap="none" spc="0">
              <a:solidFill>
                <a:srgbClr val="0C056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5"/>
          <p:cNvSpPr txBox="1"/>
          <p:nvPr/>
        </p:nvSpPr>
        <p:spPr>
          <a:xfrm>
            <a:off x="2807661" y="2673932"/>
            <a:ext cx="1651778" cy="328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1" i="0" u="none" strike="noStrike" cap="none" spc="0">
                <a:solidFill>
                  <a:srgbClr val="0C056D"/>
                </a:solidFill>
                <a:latin typeface="Arial"/>
                <a:ea typeface="Arial"/>
                <a:cs typeface="Arial"/>
                <a:sym typeface="Arial"/>
              </a:rPr>
              <a:t>Регистрация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5"/>
          <p:cNvSpPr txBox="1"/>
          <p:nvPr/>
        </p:nvSpPr>
        <p:spPr>
          <a:xfrm>
            <a:off x="4813257" y="2699607"/>
            <a:ext cx="1760934" cy="328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1" i="0" u="none" strike="noStrike" cap="none" spc="0">
                <a:solidFill>
                  <a:srgbClr val="0C056D"/>
                </a:solidFill>
                <a:latin typeface="Arial"/>
                <a:ea typeface="Arial"/>
                <a:cs typeface="Arial"/>
                <a:sym typeface="Arial"/>
              </a:rPr>
              <a:t>Соревнование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5"/>
          <p:cNvSpPr txBox="1"/>
          <p:nvPr/>
        </p:nvSpPr>
        <p:spPr>
          <a:xfrm>
            <a:off x="6673332" y="2673932"/>
            <a:ext cx="2804224" cy="328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1" i="0" u="none" strike="noStrike" cap="none" spc="0">
                <a:solidFill>
                  <a:srgbClr val="0C056D"/>
                </a:solidFill>
                <a:latin typeface="Arial"/>
                <a:ea typeface="Arial"/>
                <a:cs typeface="Arial"/>
                <a:sym typeface="Arial"/>
              </a:rPr>
              <a:t>Итоги и награждение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5"/>
          <p:cNvSpPr txBox="1"/>
          <p:nvPr/>
        </p:nvSpPr>
        <p:spPr>
          <a:xfrm>
            <a:off x="763771" y="2338868"/>
            <a:ext cx="1754350" cy="314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1" i="0" u="none" strike="noStrike" cap="none" spc="0">
                <a:solidFill>
                  <a:srgbClr val="B61AAE"/>
                </a:solidFill>
                <a:latin typeface="Arial"/>
                <a:ea typeface="Arial"/>
                <a:cs typeface="Arial"/>
                <a:sym typeface="Arial"/>
              </a:rPr>
              <a:t>1 апр. – 23 авг.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5"/>
          <p:cNvSpPr txBox="1"/>
          <p:nvPr/>
        </p:nvSpPr>
        <p:spPr>
          <a:xfrm>
            <a:off x="2798645" y="2338868"/>
            <a:ext cx="1902549" cy="314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1" i="0" u="none" strike="noStrike" cap="none" spc="0">
                <a:solidFill>
                  <a:srgbClr val="B61AAE"/>
                </a:solidFill>
                <a:latin typeface="Arial"/>
                <a:ea typeface="Arial"/>
                <a:cs typeface="Arial"/>
                <a:sym typeface="Arial"/>
              </a:rPr>
              <a:t>24 авг. – 20 сент.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5"/>
          <p:cNvSpPr txBox="1"/>
          <p:nvPr/>
        </p:nvSpPr>
        <p:spPr>
          <a:xfrm>
            <a:off x="4785919" y="2338868"/>
            <a:ext cx="2068395" cy="314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1" i="0" u="none" strike="noStrike" cap="none" spc="0">
                <a:solidFill>
                  <a:srgbClr val="B61AAE"/>
                </a:solidFill>
                <a:latin typeface="Arial"/>
                <a:ea typeface="Arial"/>
                <a:cs typeface="Arial"/>
                <a:sym typeface="Arial"/>
              </a:rPr>
              <a:t>21 сент. – 11 окт.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5"/>
          <p:cNvSpPr txBox="1"/>
          <p:nvPr/>
        </p:nvSpPr>
        <p:spPr>
          <a:xfrm>
            <a:off x="6699787" y="2338868"/>
            <a:ext cx="2068395" cy="314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1" i="0" u="none" strike="noStrike" cap="none" spc="0">
                <a:solidFill>
                  <a:srgbClr val="B61AAE"/>
                </a:solidFill>
                <a:latin typeface="Arial"/>
                <a:ea typeface="Arial"/>
                <a:cs typeface="Arial"/>
                <a:sym typeface="Arial"/>
              </a:rPr>
              <a:t>30 окт.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02" name="Google Shape;602;p5"/>
          <p:cNvGrpSpPr/>
          <p:nvPr/>
        </p:nvGrpSpPr>
        <p:grpSpPr>
          <a:xfrm>
            <a:off x="795867" y="2010296"/>
            <a:ext cx="321498" cy="328571"/>
            <a:chOff x="702815" y="3022267"/>
            <a:chExt cx="134948" cy="134948"/>
          </a:xfrm>
        </p:grpSpPr>
        <p:sp>
          <p:nvSpPr>
            <p:cNvPr id="603" name="Google Shape;603;p5"/>
            <p:cNvSpPr/>
            <p:nvPr/>
          </p:nvSpPr>
          <p:spPr>
            <a:xfrm>
              <a:off x="702815" y="3022267"/>
              <a:ext cx="134948" cy="134948"/>
            </a:xfrm>
            <a:prstGeom prst="ellipse">
              <a:avLst/>
            </a:prstGeom>
            <a:solidFill>
              <a:srgbClr val="F25D9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" name="Google Shape;604;p5"/>
            <p:cNvSpPr/>
            <p:nvPr/>
          </p:nvSpPr>
          <p:spPr>
            <a:xfrm>
              <a:off x="732193" y="3046163"/>
              <a:ext cx="81674" cy="81674"/>
            </a:xfrm>
            <a:prstGeom prst="ellipse">
              <a:avLst/>
            </a:prstGeom>
            <a:solidFill>
              <a:srgbClr val="F25D9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05" name="Google Shape;605;p5"/>
          <p:cNvGrpSpPr/>
          <p:nvPr/>
        </p:nvGrpSpPr>
        <p:grpSpPr>
          <a:xfrm>
            <a:off x="2801530" y="2010296"/>
            <a:ext cx="321498" cy="328571"/>
            <a:chOff x="702815" y="3022267"/>
            <a:chExt cx="134948" cy="134948"/>
          </a:xfrm>
        </p:grpSpPr>
        <p:sp>
          <p:nvSpPr>
            <p:cNvPr id="606" name="Google Shape;606;p5"/>
            <p:cNvSpPr/>
            <p:nvPr/>
          </p:nvSpPr>
          <p:spPr>
            <a:xfrm>
              <a:off x="702815" y="3022267"/>
              <a:ext cx="134948" cy="134948"/>
            </a:xfrm>
            <a:prstGeom prst="ellipse">
              <a:avLst/>
            </a:prstGeom>
            <a:solidFill>
              <a:srgbClr val="F25D9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" name="Google Shape;607;p5"/>
            <p:cNvSpPr/>
            <p:nvPr/>
          </p:nvSpPr>
          <p:spPr>
            <a:xfrm>
              <a:off x="732193" y="3046163"/>
              <a:ext cx="81674" cy="81674"/>
            </a:xfrm>
            <a:prstGeom prst="ellipse">
              <a:avLst/>
            </a:prstGeom>
            <a:solidFill>
              <a:srgbClr val="F25D9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08" name="Google Shape;608;p5"/>
          <p:cNvGrpSpPr/>
          <p:nvPr/>
        </p:nvGrpSpPr>
        <p:grpSpPr>
          <a:xfrm>
            <a:off x="4799175" y="2010296"/>
            <a:ext cx="321498" cy="328571"/>
            <a:chOff x="702815" y="3022267"/>
            <a:chExt cx="134948" cy="134948"/>
          </a:xfrm>
        </p:grpSpPr>
        <p:sp>
          <p:nvSpPr>
            <p:cNvPr id="609" name="Google Shape;609;p5"/>
            <p:cNvSpPr/>
            <p:nvPr/>
          </p:nvSpPr>
          <p:spPr>
            <a:xfrm>
              <a:off x="702815" y="3022267"/>
              <a:ext cx="134948" cy="134948"/>
            </a:xfrm>
            <a:prstGeom prst="ellipse">
              <a:avLst/>
            </a:prstGeom>
            <a:solidFill>
              <a:srgbClr val="F25D9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" name="Google Shape;610;p5"/>
            <p:cNvSpPr/>
            <p:nvPr/>
          </p:nvSpPr>
          <p:spPr>
            <a:xfrm>
              <a:off x="732193" y="3046163"/>
              <a:ext cx="81674" cy="81674"/>
            </a:xfrm>
            <a:prstGeom prst="ellipse">
              <a:avLst/>
            </a:prstGeom>
            <a:solidFill>
              <a:srgbClr val="F25D9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11" name="Google Shape;611;p5"/>
          <p:cNvGrpSpPr/>
          <p:nvPr/>
        </p:nvGrpSpPr>
        <p:grpSpPr>
          <a:xfrm>
            <a:off x="6679802" y="2010296"/>
            <a:ext cx="321498" cy="328571"/>
            <a:chOff x="702815" y="3022267"/>
            <a:chExt cx="134948" cy="134948"/>
          </a:xfrm>
        </p:grpSpPr>
        <p:sp>
          <p:nvSpPr>
            <p:cNvPr id="612" name="Google Shape;612;p5"/>
            <p:cNvSpPr/>
            <p:nvPr/>
          </p:nvSpPr>
          <p:spPr>
            <a:xfrm>
              <a:off x="702815" y="3022267"/>
              <a:ext cx="134948" cy="134948"/>
            </a:xfrm>
            <a:prstGeom prst="ellipse">
              <a:avLst/>
            </a:prstGeom>
            <a:solidFill>
              <a:srgbClr val="F25D9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" name="Google Shape;613;p5"/>
            <p:cNvSpPr/>
            <p:nvPr/>
          </p:nvSpPr>
          <p:spPr>
            <a:xfrm>
              <a:off x="732193" y="3046163"/>
              <a:ext cx="81674" cy="81674"/>
            </a:xfrm>
            <a:prstGeom prst="ellipse">
              <a:avLst/>
            </a:prstGeom>
            <a:solidFill>
              <a:srgbClr val="F25D9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14" name="Google Shape;614;p5"/>
          <p:cNvCxnSpPr/>
          <p:nvPr/>
        </p:nvCxnSpPr>
        <p:spPr>
          <a:xfrm>
            <a:off x="87086" y="1856836"/>
            <a:ext cx="9056914" cy="0"/>
          </a:xfrm>
          <a:prstGeom prst="straightConnector1">
            <a:avLst/>
          </a:prstGeom>
          <a:noFill/>
          <a:ln w="9525" cap="flat" cmpd="sng">
            <a:solidFill>
              <a:srgbClr val="3E6EC2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615" name="Google Shape;615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740285" y="2960501"/>
            <a:ext cx="4223713" cy="2237014"/>
          </a:xfrm>
          <a:prstGeom prst="rect">
            <a:avLst/>
          </a:prstGeom>
          <a:noFill/>
          <a:ln>
            <a:noFill/>
          </a:ln>
        </p:spPr>
      </p:pic>
      <p:pic>
        <p:nvPicPr>
          <p:cNvPr id="616" name="Google Shape;616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2971" y="2780475"/>
            <a:ext cx="3418116" cy="2597067"/>
          </a:xfrm>
          <a:prstGeom prst="rect">
            <a:avLst/>
          </a:prstGeom>
          <a:noFill/>
          <a:ln>
            <a:noFill/>
          </a:ln>
        </p:spPr>
      </p:pic>
      <p:sp>
        <p:nvSpPr>
          <p:cNvPr id="617" name="Google Shape;617;p5"/>
          <p:cNvSpPr/>
          <p:nvPr/>
        </p:nvSpPr>
        <p:spPr>
          <a:xfrm>
            <a:off x="3475984" y="3737174"/>
            <a:ext cx="1974018" cy="435429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3153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spc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6"/>
          <p:cNvSpPr/>
          <p:nvPr/>
        </p:nvSpPr>
        <p:spPr>
          <a:xfrm>
            <a:off x="67095" y="4398418"/>
            <a:ext cx="9196648" cy="80765"/>
          </a:xfrm>
          <a:prstGeom prst="roundRect">
            <a:avLst>
              <a:gd name="adj" fmla="val 50000"/>
            </a:avLst>
          </a:prstGeom>
          <a:solidFill>
            <a:srgbClr val="B3C6E7"/>
          </a:solidFill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spc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6"/>
          <p:cNvSpPr/>
          <p:nvPr/>
        </p:nvSpPr>
        <p:spPr>
          <a:xfrm>
            <a:off x="352553" y="1442069"/>
            <a:ext cx="5556762" cy="388189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25D9C"/>
              </a:gs>
              <a:gs pos="100000">
                <a:srgbClr val="B61AAE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spc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6"/>
          <p:cNvSpPr/>
          <p:nvPr/>
        </p:nvSpPr>
        <p:spPr>
          <a:xfrm>
            <a:off x="426059" y="584581"/>
            <a:ext cx="6462244" cy="793976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ru-RU" sz="3200" b="1" i="0" u="none" strike="noStrike" cap="none" spc="0">
                <a:solidFill>
                  <a:srgbClr val="590D82"/>
                </a:solidFill>
                <a:latin typeface="Arial"/>
                <a:ea typeface="Arial"/>
                <a:cs typeface="Arial"/>
                <a:sym typeface="Arial"/>
              </a:rPr>
              <a:t>Задачи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6"/>
          <p:cNvSpPr txBox="1"/>
          <p:nvPr/>
        </p:nvSpPr>
        <p:spPr>
          <a:xfrm>
            <a:off x="426059" y="1457149"/>
            <a:ext cx="2910693" cy="34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 b="1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Распределение задач</a:t>
            </a:r>
            <a:endParaRPr sz="1800" b="0" i="0" u="none" strike="noStrike" cap="none" spc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6"/>
          <p:cNvSpPr/>
          <p:nvPr/>
        </p:nvSpPr>
        <p:spPr>
          <a:xfrm>
            <a:off x="379112" y="1957282"/>
            <a:ext cx="1190530" cy="346219"/>
          </a:xfrm>
          <a:prstGeom prst="roundRect">
            <a:avLst>
              <a:gd name="adj" fmla="val 50000"/>
            </a:avLst>
          </a:prstGeom>
          <a:noFill/>
          <a:ln w="25400" cap="flat" cmpd="sng">
            <a:solidFill>
              <a:srgbClr val="F25D9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spc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6"/>
          <p:cNvSpPr txBox="1"/>
          <p:nvPr/>
        </p:nvSpPr>
        <p:spPr>
          <a:xfrm>
            <a:off x="564726" y="1995670"/>
            <a:ext cx="1190534" cy="34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1" i="0" u="none" strike="noStrike" cap="none" spc="0">
                <a:solidFill>
                  <a:srgbClr val="B61AAE"/>
                </a:solidFill>
                <a:latin typeface="Arial"/>
                <a:ea typeface="Arial"/>
                <a:cs typeface="Arial"/>
                <a:sym typeface="Arial"/>
              </a:rPr>
              <a:t>Задача</a:t>
            </a:r>
            <a:endParaRPr sz="1400" b="0" i="0" u="none" strike="noStrike" cap="none" spc="0">
              <a:solidFill>
                <a:srgbClr val="B61AA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6"/>
          <p:cNvSpPr/>
          <p:nvPr/>
        </p:nvSpPr>
        <p:spPr>
          <a:xfrm>
            <a:off x="2850655" y="1957282"/>
            <a:ext cx="1805594" cy="346219"/>
          </a:xfrm>
          <a:prstGeom prst="roundRect">
            <a:avLst>
              <a:gd name="adj" fmla="val 50000"/>
            </a:avLst>
          </a:prstGeom>
          <a:noFill/>
          <a:ln w="25400" cap="flat" cmpd="sng">
            <a:solidFill>
              <a:srgbClr val="F25D9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spc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6"/>
          <p:cNvSpPr txBox="1"/>
          <p:nvPr/>
        </p:nvSpPr>
        <p:spPr>
          <a:xfrm>
            <a:off x="2961200" y="1995670"/>
            <a:ext cx="2221868" cy="34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1" i="0" u="none" strike="noStrike" cap="none" spc="0">
                <a:solidFill>
                  <a:srgbClr val="B61AAE"/>
                </a:solidFill>
                <a:latin typeface="Arial"/>
                <a:ea typeface="Arial"/>
                <a:cs typeface="Arial"/>
                <a:sym typeface="Arial"/>
              </a:rPr>
              <a:t>Ответственный</a:t>
            </a:r>
            <a:endParaRPr sz="1400" b="0" i="0" u="none" strike="noStrike" cap="none" spc="0">
              <a:solidFill>
                <a:srgbClr val="B61AA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6"/>
          <p:cNvSpPr/>
          <p:nvPr/>
        </p:nvSpPr>
        <p:spPr>
          <a:xfrm>
            <a:off x="5111684" y="1970149"/>
            <a:ext cx="1069582" cy="346219"/>
          </a:xfrm>
          <a:prstGeom prst="roundRect">
            <a:avLst>
              <a:gd name="adj" fmla="val 50000"/>
            </a:avLst>
          </a:prstGeom>
          <a:noFill/>
          <a:ln w="25400" cap="flat" cmpd="sng">
            <a:solidFill>
              <a:srgbClr val="F25D9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spc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6"/>
          <p:cNvSpPr txBox="1"/>
          <p:nvPr/>
        </p:nvSpPr>
        <p:spPr>
          <a:xfrm>
            <a:off x="5336474" y="1995670"/>
            <a:ext cx="890968" cy="34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1" i="0" u="none" strike="noStrike" cap="none" spc="0">
                <a:solidFill>
                  <a:srgbClr val="B61AAE"/>
                </a:solidFill>
                <a:latin typeface="Arial"/>
                <a:ea typeface="Arial"/>
                <a:cs typeface="Arial"/>
                <a:sym typeface="Arial"/>
              </a:rPr>
              <a:t>Срок</a:t>
            </a:r>
            <a:endParaRPr sz="1400" b="0" i="0" u="none" strike="noStrike" cap="none" spc="0">
              <a:solidFill>
                <a:srgbClr val="B61AA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33" name="Google Shape;633;p6"/>
          <p:cNvGraphicFramePr/>
          <p:nvPr/>
        </p:nvGraphicFramePr>
        <p:xfrm>
          <a:off x="352553" y="2472912"/>
          <a:ext cx="6164375" cy="1707190"/>
        </p:xfrm>
        <a:graphic>
          <a:graphicData uri="http://schemas.openxmlformats.org/drawingml/2006/table">
            <a:tbl>
              <a:tblPr firstRow="1" bandRow="1">
                <a:noFill/>
                <a:tableStyleId>{F49541A1-EC09-42E9-8AD2-F4AEE8F2B24E}</a:tableStyleId>
              </a:tblPr>
              <a:tblGrid>
                <a:gridCol w="2609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0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9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-RU" sz="1400" b="1" i="0" u="none" strike="noStrike" cap="none" spc="0">
                          <a:solidFill>
                            <a:schemeClr val="lt1"/>
                          </a:solidFill>
                        </a:rPr>
                        <a:t>Идея</a:t>
                      </a:r>
                      <a:r>
                        <a:rPr lang="ru-RU" sz="1400" b="1" i="0" u="none" strike="noStrike" cap="none" spc="0">
                          <a:solidFill>
                            <a:srgbClr val="0C056D"/>
                          </a:solidFill>
                        </a:rPr>
                        <a:t> </a:t>
                      </a:r>
                      <a:r>
                        <a:rPr lang="ru-RU" sz="1400" b="1" i="0" u="none" strike="noStrike" cap="none" spc="0">
                          <a:solidFill>
                            <a:schemeClr val="lt1"/>
                          </a:solidFill>
                        </a:rPr>
                        <a:t>и сценарий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25D9C"/>
                        </a:buClr>
                        <a:buSzPts val="1400"/>
                        <a:buFont typeface="Arial"/>
                        <a:buNone/>
                      </a:pPr>
                      <a:r>
                        <a:rPr lang="ru-RU" sz="1400" b="1" u="none" strike="noStrike" cap="none" spc="0">
                          <a:solidFill>
                            <a:srgbClr val="B3C6E7"/>
                          </a:solidFill>
                        </a:rPr>
                        <a:t>Чан Чунг Куанг</a:t>
                      </a:r>
                      <a:endParaRPr sz="1400" b="1" u="none" strike="noStrike" cap="none" spc="0">
                        <a:solidFill>
                          <a:srgbClr val="B3C6E7"/>
                        </a:solidFill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25D9C"/>
                        </a:buClr>
                        <a:buSzPts val="1400"/>
                        <a:buFont typeface="Arial"/>
                        <a:buNone/>
                      </a:pPr>
                      <a:r>
                        <a:rPr lang="ru-RU" sz="1400" b="0" u="none" strike="noStrike" cap="none" spc="0">
                          <a:solidFill>
                            <a:srgbClr val="0C056D"/>
                          </a:solidFill>
                        </a:rPr>
                        <a:t>1 апр. – 23 авг.</a:t>
                      </a:r>
                      <a:endParaRPr sz="1400" u="none" strike="noStrike" cap="none" spc="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-RU" sz="1400" b="0" u="none" strike="noStrike" cap="none" spc="0">
                          <a:solidFill>
                            <a:srgbClr val="0C056D"/>
                          </a:solidFill>
                        </a:rPr>
                        <a:t>Разработка кода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25D9C"/>
                        </a:buClr>
                        <a:buSzPts val="1400"/>
                        <a:buFont typeface="Arial"/>
                        <a:buNone/>
                      </a:pPr>
                      <a:r>
                        <a:rPr lang="ru-RU" sz="1400" b="1" u="none" strike="noStrike" cap="none" spc="0">
                          <a:solidFill>
                            <a:srgbClr val="2F5496"/>
                          </a:solidFill>
                        </a:rPr>
                        <a:t>Гуркало Артемий Романович</a:t>
                      </a:r>
                      <a:endParaRPr sz="1400" b="1" u="none" strike="noStrike" cap="none" spc="0">
                        <a:solidFill>
                          <a:srgbClr val="2F5496"/>
                        </a:solidFill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25D9C"/>
                        </a:buClr>
                        <a:buSzPts val="1400"/>
                        <a:buFont typeface="Arial"/>
                        <a:buNone/>
                      </a:pPr>
                      <a:r>
                        <a:rPr lang="ru-RU" sz="1400" b="0" u="none" strike="noStrike" cap="none" spc="0">
                          <a:solidFill>
                            <a:srgbClr val="0C056D"/>
                          </a:solidFill>
                        </a:rPr>
                        <a:t>24 авг. – 20 сент.</a:t>
                      </a:r>
                      <a:endParaRPr sz="1400" u="none" strike="noStrike" cap="none" spc="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-RU" sz="1400" b="0" u="none" strike="noStrike" cap="none" spc="0">
                          <a:solidFill>
                            <a:srgbClr val="0C056D"/>
                          </a:solidFill>
                        </a:rPr>
                        <a:t>Презентация и видео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25D9C"/>
                        </a:buClr>
                        <a:buSzPts val="1400"/>
                        <a:buFont typeface="Arial"/>
                        <a:buNone/>
                      </a:pPr>
                      <a:r>
                        <a:rPr lang="ru-RU" sz="1400" b="1" u="none" strike="noStrike" cap="none" spc="0">
                          <a:solidFill>
                            <a:srgbClr val="1F3864"/>
                          </a:solidFill>
                        </a:rPr>
                        <a:t>Игнатов Николай Николаевич</a:t>
                      </a:r>
                      <a:endParaRPr sz="1400" b="1" u="none" strike="noStrike" cap="none" spc="0">
                        <a:solidFill>
                          <a:srgbClr val="1F3864"/>
                        </a:solidFill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25D9C"/>
                        </a:buClr>
                        <a:buSzPts val="1400"/>
                        <a:buFont typeface="Arial"/>
                        <a:buNone/>
                      </a:pPr>
                      <a:r>
                        <a:rPr lang="ru-RU" sz="1400" b="0" u="none" strike="noStrike" cap="none" spc="0">
                          <a:solidFill>
                            <a:srgbClr val="0C056D"/>
                          </a:solidFill>
                        </a:rPr>
                        <a:t>21 сент. – 11 окт.</a:t>
                      </a:r>
                      <a:endParaRPr sz="1400" u="none" strike="noStrike" cap="none" spc="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1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-RU" sz="1400" b="0" u="none" strike="noStrike" cap="none" spc="0">
                          <a:solidFill>
                            <a:srgbClr val="0C056D"/>
                          </a:solidFill>
                        </a:rPr>
                        <a:t>Итоги и награждение</a:t>
                      </a:r>
                      <a:endParaRPr sz="1400" u="none" strike="noStrike" cap="none" spc="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25D9C"/>
                        </a:buClr>
                        <a:buSzPts val="1400"/>
                        <a:buFont typeface="Arial"/>
                        <a:buNone/>
                      </a:pPr>
                      <a:r>
                        <a:rPr lang="ru-RU" sz="1400" b="0" u="none" strike="noStrike" cap="none" spc="0">
                          <a:solidFill>
                            <a:srgbClr val="0C056D"/>
                          </a:solidFill>
                        </a:rPr>
                        <a:t>Фамилия Имя</a:t>
                      </a:r>
                      <a:endParaRPr sz="1400" u="none" strike="noStrike" cap="none" spc="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25D9C"/>
                        </a:buClr>
                        <a:buSzPts val="1400"/>
                        <a:buFont typeface="Arial"/>
                        <a:buNone/>
                      </a:pPr>
                      <a:r>
                        <a:rPr lang="ru-RU" sz="1400" b="0" u="none" strike="noStrike" cap="none" spc="0">
                          <a:solidFill>
                            <a:srgbClr val="0C056D"/>
                          </a:solidFill>
                        </a:rPr>
                        <a:t>30 окт.</a:t>
                      </a:r>
                      <a:endParaRPr sz="1400" u="none" strike="noStrike" cap="none" spc="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634" name="Google Shape;634;p6"/>
          <p:cNvCxnSpPr/>
          <p:nvPr/>
        </p:nvCxnSpPr>
        <p:spPr>
          <a:xfrm rot="10800000" flipH="1">
            <a:off x="426059" y="1208729"/>
            <a:ext cx="1533370" cy="10886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635" name="Google Shape;635;p6"/>
          <p:cNvCxnSpPr/>
          <p:nvPr/>
        </p:nvCxnSpPr>
        <p:spPr>
          <a:xfrm rot="10800000" flipH="1">
            <a:off x="0" y="1328057"/>
            <a:ext cx="9144000" cy="10886"/>
          </a:xfrm>
          <a:prstGeom prst="straightConnector1">
            <a:avLst/>
          </a:prstGeom>
          <a:noFill/>
          <a:ln w="9525" cap="flat" cmpd="sng">
            <a:solidFill>
              <a:srgbClr val="3E6EC2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636" name="Google Shape;636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59698" y="1328057"/>
            <a:ext cx="3048000" cy="304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7"/>
          <p:cNvSpPr/>
          <p:nvPr/>
        </p:nvSpPr>
        <p:spPr>
          <a:xfrm>
            <a:off x="426059" y="214052"/>
            <a:ext cx="6462244" cy="793976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ru-RU" sz="3200" b="1" i="0" u="none" strike="noStrike" cap="none" spc="0">
                <a:solidFill>
                  <a:srgbClr val="590D82"/>
                </a:solidFill>
                <a:latin typeface="Arial"/>
                <a:ea typeface="Arial"/>
                <a:cs typeface="Arial"/>
                <a:sym typeface="Arial"/>
              </a:rPr>
              <a:t>Фотографии прототипа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7"/>
          <p:cNvSpPr txBox="1"/>
          <p:nvPr/>
        </p:nvSpPr>
        <p:spPr>
          <a:xfrm>
            <a:off x="540359" y="2390827"/>
            <a:ext cx="21825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-RU" sz="1200">
                <a:solidFill>
                  <a:srgbClr val="0C056D"/>
                </a:solidFill>
              </a:rPr>
              <a:t>Меню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7"/>
          <p:cNvSpPr txBox="1"/>
          <p:nvPr/>
        </p:nvSpPr>
        <p:spPr>
          <a:xfrm>
            <a:off x="2980293" y="2390827"/>
            <a:ext cx="218252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-RU" sz="1200">
                <a:solidFill>
                  <a:srgbClr val="0C056D"/>
                </a:solidFill>
              </a:rPr>
              <a:t>Настройки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p7"/>
          <p:cNvSpPr txBox="1"/>
          <p:nvPr/>
        </p:nvSpPr>
        <p:spPr>
          <a:xfrm>
            <a:off x="540359" y="4366650"/>
            <a:ext cx="218252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-RU" sz="1200">
                <a:solidFill>
                  <a:srgbClr val="0C056D"/>
                </a:solidFill>
              </a:rPr>
              <a:t>Вступление к уроку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7"/>
          <p:cNvSpPr txBox="1"/>
          <p:nvPr/>
        </p:nvSpPr>
        <p:spPr>
          <a:xfrm>
            <a:off x="2980293" y="4366650"/>
            <a:ext cx="21825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-RU" sz="1200">
                <a:solidFill>
                  <a:srgbClr val="0C056D"/>
                </a:solidFill>
              </a:rPr>
              <a:t>Система жизней, валюта</a:t>
            </a:r>
            <a:endParaRPr sz="1200">
              <a:solidFill>
                <a:srgbClr val="0C056D"/>
              </a:solidFill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>
              <a:solidFill>
                <a:srgbClr val="0C056D"/>
              </a:solidFill>
            </a:endParaRPr>
          </a:p>
        </p:txBody>
      </p:sp>
      <p:sp>
        <p:nvSpPr>
          <p:cNvPr id="647" name="Google Shape;647;p7"/>
          <p:cNvSpPr/>
          <p:nvPr/>
        </p:nvSpPr>
        <p:spPr>
          <a:xfrm>
            <a:off x="5489813" y="1107440"/>
            <a:ext cx="3183300" cy="3259200"/>
          </a:xfrm>
          <a:prstGeom prst="roundRect">
            <a:avLst>
              <a:gd name="adj" fmla="val 8369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spc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p7"/>
          <p:cNvSpPr/>
          <p:nvPr/>
        </p:nvSpPr>
        <p:spPr>
          <a:xfrm>
            <a:off x="505561" y="1107440"/>
            <a:ext cx="2252100" cy="131880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spc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7"/>
          <p:cNvSpPr/>
          <p:nvPr/>
        </p:nvSpPr>
        <p:spPr>
          <a:xfrm>
            <a:off x="2980293" y="1107440"/>
            <a:ext cx="2252100" cy="131880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spc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p7"/>
          <p:cNvSpPr/>
          <p:nvPr/>
        </p:nvSpPr>
        <p:spPr>
          <a:xfrm>
            <a:off x="470773" y="2933192"/>
            <a:ext cx="2252100" cy="131880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spc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p7"/>
          <p:cNvSpPr/>
          <p:nvPr/>
        </p:nvSpPr>
        <p:spPr>
          <a:xfrm>
            <a:off x="2980293" y="2933192"/>
            <a:ext cx="2252100" cy="131880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spc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p7"/>
          <p:cNvSpPr txBox="1"/>
          <p:nvPr/>
        </p:nvSpPr>
        <p:spPr>
          <a:xfrm>
            <a:off x="5489813" y="4366650"/>
            <a:ext cx="21825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-RU" sz="1200">
                <a:solidFill>
                  <a:srgbClr val="0C056D"/>
                </a:solidFill>
              </a:rPr>
              <a:t>Урок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53" name="Google Shape;653;p7"/>
          <p:cNvCxnSpPr/>
          <p:nvPr/>
        </p:nvCxnSpPr>
        <p:spPr>
          <a:xfrm rot="10800000" flipH="1">
            <a:off x="547807" y="827314"/>
            <a:ext cx="4684593" cy="10887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dash"/>
            <a:round/>
            <a:headEnd type="none" w="sm" len="sm"/>
            <a:tailEnd type="none" w="sm" len="sm"/>
          </a:ln>
        </p:spPr>
      </p:cxnSp>
      <p:pic>
        <p:nvPicPr>
          <p:cNvPr id="654" name="Google Shape;654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75" y="1192700"/>
            <a:ext cx="2027125" cy="113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5" name="Google Shape;655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81275" y="1192700"/>
            <a:ext cx="2027125" cy="113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6" name="Google Shape;656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3275" y="3062450"/>
            <a:ext cx="2027126" cy="113305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pic>
      <p:pic>
        <p:nvPicPr>
          <p:cNvPr id="657" name="Google Shape;657;p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84650" y="1200325"/>
            <a:ext cx="2982875" cy="3051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8" name="Google Shape;658;p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031450" y="3072600"/>
            <a:ext cx="2087675" cy="1072025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8"/>
          <p:cNvSpPr/>
          <p:nvPr/>
        </p:nvSpPr>
        <p:spPr>
          <a:xfrm>
            <a:off x="426059" y="214052"/>
            <a:ext cx="6462244" cy="793976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ru-RU" sz="3200" b="1" i="0" u="none" strike="noStrike" cap="none" spc="0" dirty="0">
                <a:solidFill>
                  <a:srgbClr val="590D82"/>
                </a:solidFill>
                <a:latin typeface="Arial"/>
                <a:ea typeface="Arial"/>
                <a:cs typeface="Arial"/>
                <a:sym typeface="Arial"/>
              </a:rPr>
              <a:t>Команда и роли</a:t>
            </a:r>
            <a:endParaRPr sz="1400" b="0" i="0" u="none" strike="noStrike" cap="none" spc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p8"/>
          <p:cNvSpPr txBox="1"/>
          <p:nvPr/>
        </p:nvSpPr>
        <p:spPr>
          <a:xfrm>
            <a:off x="540359" y="1963222"/>
            <a:ext cx="1798981" cy="793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b="1" dirty="0">
                <a:solidFill>
                  <a:srgbClr val="0C056D"/>
                </a:solidFill>
              </a:rPr>
              <a:t>Игнатов Николай Николаевич</a:t>
            </a:r>
            <a:endParaRPr sz="1400" b="0" i="0" u="none" strike="noStrike" cap="none" spc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b="1" dirty="0">
                <a:solidFill>
                  <a:srgbClr val="0C056D"/>
                </a:solidFill>
              </a:rPr>
              <a:t>Дизайнер</a:t>
            </a:r>
            <a:endParaRPr sz="1400" b="0" i="0" u="none" strike="noStrike" cap="none" spc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-RU" dirty="0">
                <a:solidFill>
                  <a:srgbClr val="0C056D"/>
                </a:solidFill>
              </a:rPr>
              <a:t>Презентация и видео</a:t>
            </a:r>
            <a:endParaRPr sz="1400" b="0" i="0" u="none" strike="noStrike" cap="none" spc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8"/>
          <p:cNvSpPr/>
          <p:nvPr/>
        </p:nvSpPr>
        <p:spPr>
          <a:xfrm>
            <a:off x="470774" y="1094611"/>
            <a:ext cx="916066" cy="815418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spc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p8"/>
          <p:cNvSpPr txBox="1"/>
          <p:nvPr/>
        </p:nvSpPr>
        <p:spPr>
          <a:xfrm>
            <a:off x="2744206" y="1963222"/>
            <a:ext cx="1798981" cy="793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b="1" dirty="0">
                <a:solidFill>
                  <a:srgbClr val="0C056D"/>
                </a:solidFill>
              </a:rPr>
              <a:t>Чан </a:t>
            </a:r>
            <a:r>
              <a:rPr lang="ru-RU" b="1" dirty="0" err="1">
                <a:solidFill>
                  <a:srgbClr val="0C056D"/>
                </a:solidFill>
              </a:rPr>
              <a:t>Чунг</a:t>
            </a:r>
            <a:r>
              <a:rPr lang="ru-RU" b="1" dirty="0">
                <a:solidFill>
                  <a:srgbClr val="0C056D"/>
                </a:solidFill>
              </a:rPr>
              <a:t> </a:t>
            </a:r>
            <a:r>
              <a:rPr lang="ru-RU" b="1" dirty="0" err="1">
                <a:solidFill>
                  <a:srgbClr val="0C056D"/>
                </a:solidFill>
              </a:rPr>
              <a:t>Куанг</a:t>
            </a:r>
            <a:endParaRPr sz="1400" b="0" i="0" u="none" strike="noStrike" cap="none" spc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b="1" dirty="0">
                <a:solidFill>
                  <a:srgbClr val="0C056D"/>
                </a:solidFill>
              </a:rPr>
              <a:t>Сценарист</a:t>
            </a:r>
            <a:endParaRPr sz="1400" b="0" i="0" u="none" strike="noStrike" cap="none" spc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dirty="0">
                <a:solidFill>
                  <a:srgbClr val="0C056D"/>
                </a:solidFill>
              </a:rPr>
              <a:t>Идея и сценарий</a:t>
            </a:r>
            <a:endParaRPr sz="1400" b="0" i="0" u="none" strike="noStrike" cap="none" spc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8"/>
          <p:cNvSpPr/>
          <p:nvPr/>
        </p:nvSpPr>
        <p:spPr>
          <a:xfrm>
            <a:off x="2674621" y="1094611"/>
            <a:ext cx="916200" cy="81540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spc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8"/>
          <p:cNvSpPr txBox="1"/>
          <p:nvPr/>
        </p:nvSpPr>
        <p:spPr>
          <a:xfrm>
            <a:off x="4883759" y="1963222"/>
            <a:ext cx="1798981" cy="793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b="1">
                <a:solidFill>
                  <a:srgbClr val="0C056D"/>
                </a:solidFill>
              </a:rPr>
              <a:t>Гуркало Артемий Романович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b="1">
                <a:solidFill>
                  <a:srgbClr val="0C056D"/>
                </a:solidFill>
              </a:rPr>
              <a:t>Программист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-RU">
                <a:solidFill>
                  <a:srgbClr val="0C056D"/>
                </a:solidFill>
              </a:rPr>
              <a:t>Разработка кода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8"/>
          <p:cNvSpPr/>
          <p:nvPr/>
        </p:nvSpPr>
        <p:spPr>
          <a:xfrm>
            <a:off x="4814174" y="1094611"/>
            <a:ext cx="916200" cy="81540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spc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8"/>
          <p:cNvSpPr txBox="1"/>
          <p:nvPr/>
        </p:nvSpPr>
        <p:spPr>
          <a:xfrm>
            <a:off x="7092906" y="2052673"/>
            <a:ext cx="1799100" cy="7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b="1">
                <a:solidFill>
                  <a:srgbClr val="0C056D"/>
                </a:solidFill>
              </a:rPr>
              <a:t>Артём Витальевич Бенескул</a:t>
            </a:r>
            <a:r>
              <a:rPr lang="ru-RU" sz="1400" b="1" i="0" u="none" strike="noStrike" cap="none" spc="0">
                <a:solidFill>
                  <a:srgbClr val="0C056D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1" i="0" u="none" strike="noStrike" cap="none" spc="0">
              <a:solidFill>
                <a:srgbClr val="0C056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b="1">
                <a:solidFill>
                  <a:srgbClr val="0C056D"/>
                </a:solidFill>
              </a:rPr>
              <a:t>Наставник</a:t>
            </a:r>
            <a:endParaRPr b="1">
              <a:solidFill>
                <a:srgbClr val="0C056D"/>
              </a:solidFill>
            </a:endParaRPr>
          </a:p>
        </p:txBody>
      </p:sp>
      <p:sp>
        <p:nvSpPr>
          <p:cNvPr id="672" name="Google Shape;672;p8"/>
          <p:cNvSpPr/>
          <p:nvPr/>
        </p:nvSpPr>
        <p:spPr>
          <a:xfrm>
            <a:off x="7023321" y="1184062"/>
            <a:ext cx="916200" cy="81540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spc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p8"/>
          <p:cNvSpPr/>
          <p:nvPr/>
        </p:nvSpPr>
        <p:spPr>
          <a:xfrm>
            <a:off x="7736928" y="1761402"/>
            <a:ext cx="984000" cy="296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25D9C"/>
              </a:gs>
              <a:gs pos="100000">
                <a:srgbClr val="B61AAE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spc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p8"/>
          <p:cNvSpPr txBox="1"/>
          <p:nvPr/>
        </p:nvSpPr>
        <p:spPr>
          <a:xfrm>
            <a:off x="7791402" y="1761439"/>
            <a:ext cx="984000" cy="2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-RU" sz="1200" b="1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наставник</a:t>
            </a:r>
            <a:endParaRPr sz="1200" b="0" i="0" u="none" strike="noStrike" cap="none" spc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75" name="Google Shape;675;p8"/>
          <p:cNvCxnSpPr/>
          <p:nvPr/>
        </p:nvCxnSpPr>
        <p:spPr>
          <a:xfrm rot="10800000" flipH="1">
            <a:off x="547807" y="838200"/>
            <a:ext cx="3164222" cy="1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2" name="Прямоугольник 1"/>
          <p:cNvSpPr/>
          <p:nvPr/>
        </p:nvSpPr>
        <p:spPr>
          <a:xfrm>
            <a:off x="145646" y="2810391"/>
            <a:ext cx="3643946" cy="6586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ct val="115000"/>
              </a:lnSpc>
              <a:buSzPts val="3200"/>
            </a:pPr>
            <a:r>
              <a:rPr lang="ru-RU" sz="3200" b="1" dirty="0" smtClean="0">
                <a:solidFill>
                  <a:srgbClr val="590D82"/>
                </a:solidFill>
              </a:rPr>
              <a:t>Технологии и ИИ</a:t>
            </a:r>
            <a:endParaRPr lang="ru-RU" sz="3200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4878812" y="3964730"/>
            <a:ext cx="4572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b="1" dirty="0">
                <a:solidFill>
                  <a:srgbClr val="002060"/>
                </a:solidFill>
                <a:latin typeface="+mj-lt"/>
              </a:rPr>
              <a:t>Технологии:</a:t>
            </a:r>
            <a:endParaRPr lang="ru-RU" dirty="0">
              <a:solidFill>
                <a:srgbClr val="002060"/>
              </a:solidFill>
              <a:latin typeface="+mj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2060"/>
                </a:solidFill>
                <a:latin typeface="+mj-lt"/>
              </a:rPr>
              <a:t>HTML, CSS, </a:t>
            </a:r>
            <a:r>
              <a:rPr lang="ru-RU" dirty="0" err="1">
                <a:solidFill>
                  <a:srgbClr val="002060"/>
                </a:solidFill>
                <a:latin typeface="+mj-lt"/>
              </a:rPr>
              <a:t>JavaScript</a:t>
            </a:r>
            <a:r>
              <a:rPr lang="ru-RU" dirty="0">
                <a:solidFill>
                  <a:srgbClr val="002060"/>
                </a:solidFill>
                <a:latin typeface="+mj-lt"/>
              </a:rPr>
              <a:t>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2060"/>
                </a:solidFill>
                <a:latin typeface="+mj-lt"/>
              </a:rPr>
              <a:t>PWA — работает в браузере телефона;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2060"/>
                </a:solidFill>
                <a:latin typeface="+mj-lt"/>
              </a:rPr>
              <a:t>CSS-анимации.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145646" y="3393375"/>
            <a:ext cx="4668527" cy="1708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300" b="1" dirty="0" smtClean="0">
                <a:solidFill>
                  <a:srgbClr val="002060"/>
                </a:solidFill>
                <a:latin typeface="+mj-lt"/>
              </a:rPr>
              <a:t>Использование ИИ</a:t>
            </a:r>
            <a:r>
              <a:rPr lang="en-US" sz="1300" b="1" dirty="0" smtClean="0">
                <a:solidFill>
                  <a:srgbClr val="002060"/>
                </a:solidFill>
                <a:latin typeface="+mj-lt"/>
              </a:rPr>
              <a:t>:</a:t>
            </a:r>
            <a:endParaRPr lang="ru-RU" sz="1300" dirty="0">
              <a:solidFill>
                <a:srgbClr val="002060"/>
              </a:solidFill>
              <a:latin typeface="+mj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1300" b="1" dirty="0">
                <a:solidFill>
                  <a:srgbClr val="002060"/>
                </a:solidFill>
                <a:latin typeface="+mj-lt"/>
              </a:rPr>
              <a:t>Команда самостоятельно разработала:</a:t>
            </a:r>
            <a:r>
              <a:rPr lang="ru-RU" sz="1300" dirty="0">
                <a:solidFill>
                  <a:srgbClr val="002060"/>
                </a:solidFill>
                <a:latin typeface="+mj-lt"/>
              </a:rPr>
              <a:t> идею, образовательную логику, структуру уроков, задания и механики.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300" b="1" dirty="0">
                <a:solidFill>
                  <a:srgbClr val="002060"/>
                </a:solidFill>
                <a:latin typeface="+mj-lt"/>
              </a:rPr>
              <a:t>ИИ использовался как помощник:</a:t>
            </a:r>
            <a:r>
              <a:rPr lang="ru-RU" sz="1300" dirty="0">
                <a:solidFill>
                  <a:srgbClr val="002060"/>
                </a:solidFill>
                <a:latin typeface="+mj-lt"/>
              </a:rPr>
              <a:t> черновая вёрстка кода, оформление текстов.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300" b="1" dirty="0">
                <a:solidFill>
                  <a:srgbClr val="002060"/>
                </a:solidFill>
                <a:latin typeface="+mj-lt"/>
              </a:rPr>
              <a:t>ИИ-чат-бот не реализован</a:t>
            </a:r>
            <a:r>
              <a:rPr lang="ru-RU" sz="1300" dirty="0">
                <a:solidFill>
                  <a:srgbClr val="002060"/>
                </a:solidFill>
                <a:latin typeface="+mj-lt"/>
              </a:rPr>
              <a:t> — приложение работает без него</a:t>
            </a:r>
            <a:r>
              <a:rPr lang="ru-RU" dirty="0">
                <a:solidFill>
                  <a:srgbClr val="002060"/>
                </a:solidFill>
                <a:latin typeface="+mj-lt"/>
              </a:rPr>
              <a:t>.</a:t>
            </a:r>
          </a:p>
        </p:txBody>
      </p:sp>
      <p:cxnSp>
        <p:nvCxnSpPr>
          <p:cNvPr id="17" name="Google Shape;675;p8"/>
          <p:cNvCxnSpPr/>
          <p:nvPr/>
        </p:nvCxnSpPr>
        <p:spPr>
          <a:xfrm flipV="1">
            <a:off x="275664" y="3340182"/>
            <a:ext cx="3381517" cy="1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dash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9"/>
          <p:cNvSpPr/>
          <p:nvPr/>
        </p:nvSpPr>
        <p:spPr>
          <a:xfrm>
            <a:off x="426059" y="214052"/>
            <a:ext cx="6462244" cy="793976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ru-RU" sz="3200" b="1" i="0" u="none" strike="noStrike" cap="none" spc="0">
                <a:solidFill>
                  <a:srgbClr val="590D82"/>
                </a:solidFill>
                <a:latin typeface="Arial"/>
                <a:ea typeface="Arial"/>
                <a:cs typeface="Arial"/>
                <a:sym typeface="Arial"/>
              </a:rPr>
              <a:t>РАЗВИТИЕ СИСТЕМЫ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9"/>
          <p:cNvSpPr/>
          <p:nvPr/>
        </p:nvSpPr>
        <p:spPr>
          <a:xfrm>
            <a:off x="426059" y="1008028"/>
            <a:ext cx="3062180" cy="3140788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marR="0" lvl="0" indent="-1714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61AAE"/>
              </a:buClr>
              <a:buSzPts val="1400"/>
              <a:buFont typeface="Arial"/>
              <a:buChar char="●"/>
            </a:pPr>
            <a:r>
              <a:rPr lang="ru-RU" sz="1400" b="0" i="0" u="none" strike="noStrike" cap="none" spc="0">
                <a:solidFill>
                  <a:srgbClr val="0C056D"/>
                </a:solidFill>
                <a:latin typeface="Arial"/>
                <a:ea typeface="Arial"/>
                <a:cs typeface="Arial"/>
                <a:sym typeface="Arial"/>
              </a:rPr>
              <a:t>Формирование образовательной среды для юных программистов.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61AAE"/>
              </a:buClr>
              <a:buSzPts val="1400"/>
              <a:buFont typeface="Arial"/>
              <a:buChar char="●"/>
            </a:pPr>
            <a:r>
              <a:rPr lang="ru-RU" sz="1400" b="0" i="0" u="none" strike="noStrike" cap="none" spc="0">
                <a:solidFill>
                  <a:srgbClr val="0C056D"/>
                </a:solidFill>
                <a:latin typeface="Arial"/>
                <a:ea typeface="Arial"/>
                <a:cs typeface="Arial"/>
                <a:sym typeface="Arial"/>
              </a:rPr>
              <a:t>Обеспечение перехода от школьных знаний к реальным проектам.</a:t>
            </a:r>
            <a:endParaRPr/>
          </a:p>
          <a:p>
            <a:pPr marL="171450" marR="0" lvl="0" indent="-1714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61AAE"/>
              </a:buClr>
              <a:buSzPts val="1400"/>
              <a:buFont typeface="Arial"/>
              <a:buChar char="●"/>
            </a:pPr>
            <a:r>
              <a:rPr lang="ru-RU" sz="1400" b="0" i="0" u="none" strike="noStrike" cap="none" spc="0">
                <a:solidFill>
                  <a:srgbClr val="0C056D"/>
                </a:solidFill>
                <a:latin typeface="Arial"/>
                <a:ea typeface="Arial"/>
                <a:cs typeface="Arial"/>
                <a:sym typeface="Arial"/>
              </a:rPr>
              <a:t>Игровой формат снижает порог входа в программирование.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61AAE"/>
              </a:buClr>
              <a:buSzPts val="1400"/>
              <a:buFont typeface="Arial"/>
              <a:buChar char="●"/>
            </a:pPr>
            <a:r>
              <a:rPr lang="ru-RU" sz="1400" b="0" i="0" u="none" strike="noStrike" cap="none" spc="0">
                <a:solidFill>
                  <a:srgbClr val="0C056D"/>
                </a:solidFill>
                <a:latin typeface="Arial"/>
                <a:ea typeface="Arial"/>
                <a:cs typeface="Arial"/>
                <a:sym typeface="Arial"/>
              </a:rPr>
              <a:t>Отри урока – первый шаг к алгоритмическому мышлению.</a:t>
            </a:r>
            <a:endParaRPr/>
          </a:p>
          <a:p>
            <a:pPr marL="171450" marR="0" lvl="0" indent="-1714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61AAE"/>
              </a:buClr>
              <a:buSzPts val="1400"/>
              <a:buFont typeface="Arial"/>
              <a:buChar char="●"/>
            </a:pPr>
            <a:r>
              <a:rPr lang="ru-RU" sz="1400" b="0" i="0" u="none" strike="noStrike" cap="none" spc="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В перспективе – новые темы: циклы, условия, переменные; ИИ-чат-бот для помощи.</a:t>
            </a:r>
            <a:endParaRPr sz="1400" b="0" i="0" u="none" strike="noStrike" cap="none" spc="0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9"/>
          <p:cNvSpPr/>
          <p:nvPr/>
        </p:nvSpPr>
        <p:spPr>
          <a:xfrm>
            <a:off x="3829115" y="1255952"/>
            <a:ext cx="4905401" cy="3224608"/>
          </a:xfrm>
          <a:prstGeom prst="roundRect">
            <a:avLst>
              <a:gd name="adj" fmla="val 5840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spc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9"/>
          <p:cNvSpPr/>
          <p:nvPr/>
        </p:nvSpPr>
        <p:spPr>
          <a:xfrm>
            <a:off x="3981516" y="1408353"/>
            <a:ext cx="4966541" cy="844990"/>
          </a:xfrm>
          <a:prstGeom prst="roundRect">
            <a:avLst>
              <a:gd name="adj" fmla="val 5840"/>
            </a:avLst>
          </a:prstGeom>
          <a:solidFill>
            <a:srgbClr val="D4DB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spc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4" name="Google Shape;684;p9"/>
          <p:cNvSpPr/>
          <p:nvPr/>
        </p:nvSpPr>
        <p:spPr>
          <a:xfrm>
            <a:off x="3981516" y="2758182"/>
            <a:ext cx="4966541" cy="844990"/>
          </a:xfrm>
          <a:prstGeom prst="roundRect">
            <a:avLst>
              <a:gd name="adj" fmla="val 5840"/>
            </a:avLst>
          </a:prstGeom>
          <a:solidFill>
            <a:srgbClr val="D4DB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spc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p9"/>
          <p:cNvSpPr/>
          <p:nvPr/>
        </p:nvSpPr>
        <p:spPr>
          <a:xfrm>
            <a:off x="3981515" y="4058065"/>
            <a:ext cx="4966541" cy="844990"/>
          </a:xfrm>
          <a:prstGeom prst="roundRect">
            <a:avLst>
              <a:gd name="adj" fmla="val 5840"/>
            </a:avLst>
          </a:prstGeom>
          <a:solidFill>
            <a:srgbClr val="D4DB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spc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p9"/>
          <p:cNvSpPr/>
          <p:nvPr/>
        </p:nvSpPr>
        <p:spPr>
          <a:xfrm rot="5400000">
            <a:off x="6245469" y="2378849"/>
            <a:ext cx="438630" cy="287511"/>
          </a:xfrm>
          <a:prstGeom prst="notched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3153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spc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9"/>
          <p:cNvSpPr/>
          <p:nvPr/>
        </p:nvSpPr>
        <p:spPr>
          <a:xfrm rot="5400000">
            <a:off x="6252937" y="3694995"/>
            <a:ext cx="438630" cy="287511"/>
          </a:xfrm>
          <a:prstGeom prst="notched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3153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spc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8" name="Google Shape;688;p9"/>
          <p:cNvSpPr/>
          <p:nvPr/>
        </p:nvSpPr>
        <p:spPr>
          <a:xfrm>
            <a:off x="4974771" y="1590397"/>
            <a:ext cx="3621649" cy="480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i="0" u="none" strike="noStrike" cap="none" spc="0">
                <a:solidFill>
                  <a:srgbClr val="590D82"/>
                </a:solidFill>
                <a:latin typeface="Arial"/>
                <a:ea typeface="Arial"/>
                <a:cs typeface="Arial"/>
                <a:sym typeface="Arial"/>
              </a:rPr>
              <a:t>Школьные знания</a:t>
            </a:r>
            <a:endParaRPr sz="2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p9"/>
          <p:cNvSpPr/>
          <p:nvPr/>
        </p:nvSpPr>
        <p:spPr>
          <a:xfrm>
            <a:off x="5050909" y="2940226"/>
            <a:ext cx="3621649" cy="480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i="0" u="none" strike="noStrike" cap="none" spc="0">
                <a:solidFill>
                  <a:srgbClr val="590D82"/>
                </a:solidFill>
                <a:latin typeface="Arial"/>
                <a:ea typeface="Arial"/>
                <a:cs typeface="Arial"/>
                <a:sym typeface="Arial"/>
              </a:rPr>
              <a:t>Игровая практика</a:t>
            </a:r>
            <a:endParaRPr sz="2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9"/>
          <p:cNvSpPr/>
          <p:nvPr/>
        </p:nvSpPr>
        <p:spPr>
          <a:xfrm>
            <a:off x="5050909" y="4240109"/>
            <a:ext cx="3621649" cy="480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i="0" u="none" strike="noStrike" cap="none" spc="0">
                <a:solidFill>
                  <a:srgbClr val="590D82"/>
                </a:solidFill>
                <a:latin typeface="Arial"/>
                <a:ea typeface="Arial"/>
                <a:cs typeface="Arial"/>
                <a:sym typeface="Arial"/>
              </a:rPr>
              <a:t>Реальные проекты</a:t>
            </a:r>
            <a:endParaRPr sz="2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91" name="Google Shape;691;p9"/>
          <p:cNvCxnSpPr/>
          <p:nvPr/>
        </p:nvCxnSpPr>
        <p:spPr>
          <a:xfrm rot="10800000" flipH="1">
            <a:off x="547807" y="816429"/>
            <a:ext cx="4350764" cy="21771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692" name="Google Shape;692;p9"/>
          <p:cNvSpPr/>
          <p:nvPr/>
        </p:nvSpPr>
        <p:spPr>
          <a:xfrm>
            <a:off x="67095" y="4398418"/>
            <a:ext cx="3700062" cy="82142"/>
          </a:xfrm>
          <a:prstGeom prst="roundRect">
            <a:avLst>
              <a:gd name="adj" fmla="val 50000"/>
            </a:avLst>
          </a:prstGeom>
          <a:solidFill>
            <a:srgbClr val="B3C6E7"/>
          </a:solidFill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spc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10"/>
          <p:cNvSpPr/>
          <p:nvPr/>
        </p:nvSpPr>
        <p:spPr>
          <a:xfrm>
            <a:off x="163286" y="55109"/>
            <a:ext cx="7904875" cy="793976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 i="0" u="none" strike="noStrike" cap="none" spc="0">
                <a:solidFill>
                  <a:srgbClr val="590D82"/>
                </a:solidFill>
                <a:latin typeface="Arial"/>
                <a:ea typeface="Arial"/>
                <a:cs typeface="Arial"/>
                <a:sym typeface="Arial"/>
              </a:rPr>
              <a:t>Сравнение решений по 4 параметрам</a:t>
            </a:r>
            <a:endParaRPr sz="2800" b="1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p10"/>
          <p:cNvSpPr/>
          <p:nvPr/>
        </p:nvSpPr>
        <p:spPr>
          <a:xfrm>
            <a:off x="5751884" y="849086"/>
            <a:ext cx="3062180" cy="3140788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1" i="0" u="none" strike="noStrike" cap="none" spc="0">
                <a:solidFill>
                  <a:srgbClr val="B61AAE"/>
                </a:solidFill>
                <a:latin typeface="Arial"/>
                <a:ea typeface="Arial"/>
                <a:cs typeface="Arial"/>
                <a:sym typeface="Arial"/>
              </a:rPr>
              <a:t>Развитие системы </a:t>
            </a:r>
            <a:endParaRPr sz="1400" b="1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61AAE"/>
              </a:buClr>
              <a:buSzPts val="1400"/>
              <a:buFont typeface="Arial"/>
              <a:buChar char="●"/>
            </a:pPr>
            <a:r>
              <a:rPr lang="ru-RU" sz="1400" b="0" i="0" u="none" strike="noStrike" cap="none" spc="0">
                <a:solidFill>
                  <a:srgbClr val="0C056D"/>
                </a:solidFill>
                <a:latin typeface="Arial"/>
                <a:ea typeface="Arial"/>
                <a:cs typeface="Arial"/>
                <a:sym typeface="Arial"/>
              </a:rPr>
              <a:t>"Поле” лидирует по мобильности, геймификации и доступности.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61AAE"/>
              </a:buClr>
              <a:buSzPts val="1400"/>
              <a:buFont typeface="Arial"/>
              <a:buChar char="●"/>
            </a:pPr>
            <a:r>
              <a:rPr lang="ru-RU" sz="1400" b="0" i="0" u="none" strike="noStrike" cap="none" spc="0">
                <a:solidFill>
                  <a:srgbClr val="0C056D"/>
                </a:solidFill>
                <a:latin typeface="Arial"/>
                <a:ea typeface="Arial"/>
                <a:cs typeface="Arial"/>
                <a:sym typeface="Arial"/>
              </a:rPr>
              <a:t>Единственное решение, совмещающее все три параметра одновременно.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61AAE"/>
              </a:buClr>
              <a:buSzPts val="1400"/>
              <a:buFont typeface="Arial"/>
              <a:buChar char="●"/>
            </a:pPr>
            <a:r>
              <a:rPr lang="ru-RU" sz="1400" b="0" i="0" u="none" strike="noStrike" cap="none" spc="0">
                <a:solidFill>
                  <a:srgbClr val="0C056D"/>
                </a:solidFill>
                <a:latin typeface="Arial"/>
                <a:ea typeface="Arial"/>
                <a:cs typeface="Arial"/>
                <a:sym typeface="Arial"/>
              </a:rPr>
              <a:t>Код будущего выигрывает только по глубине обучения – но проигрывает в мобильности и скорости.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61AAE"/>
              </a:buClr>
              <a:buSzPts val="1400"/>
              <a:buFont typeface="Arial"/>
              <a:buChar char="●"/>
            </a:pPr>
            <a:r>
              <a:rPr lang="ru-RU" sz="1400" b="0" i="0" u="none" strike="noStrike" cap="none" spc="0">
                <a:solidFill>
                  <a:srgbClr val="0C056D"/>
                </a:solidFill>
                <a:latin typeface="Arial"/>
                <a:ea typeface="Arial"/>
                <a:cs typeface="Arial"/>
                <a:sym typeface="Arial"/>
              </a:rPr>
              <a:t>Duolingoo – эталон геймификации, но не учит программированию.</a:t>
            </a:r>
            <a:endParaRPr/>
          </a:p>
          <a:p>
            <a:pPr marL="171450" marR="0" lvl="0" indent="-1714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61AAE"/>
              </a:buClr>
              <a:buSzPts val="1400"/>
              <a:buFont typeface="Arial"/>
              <a:buChar char="●"/>
            </a:pPr>
            <a:r>
              <a:rPr lang="ru-RU" sz="1400" b="0" i="0" u="none" strike="noStrike" cap="none" spc="0">
                <a:solidFill>
                  <a:srgbClr val="0C056D"/>
                </a:solidFill>
                <a:latin typeface="Arial"/>
                <a:ea typeface="Arial"/>
                <a:cs typeface="Arial"/>
                <a:sym typeface="Arial"/>
              </a:rPr>
              <a:t>Вывод: Поле занимает уникальную нишу – мобильное геймифицированное обучающее программированию.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99" name="Google Shape;699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0821" y="899294"/>
            <a:ext cx="5026429" cy="326413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00" name="Google Shape;700;p10"/>
          <p:cNvCxnSpPr/>
          <p:nvPr/>
        </p:nvCxnSpPr>
        <p:spPr>
          <a:xfrm>
            <a:off x="340821" y="664029"/>
            <a:ext cx="6585857" cy="0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701" name="Google Shape;701;p10"/>
          <p:cNvSpPr/>
          <p:nvPr/>
        </p:nvSpPr>
        <p:spPr>
          <a:xfrm>
            <a:off x="340821" y="4163426"/>
            <a:ext cx="4572000" cy="1184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61AAE"/>
              </a:buClr>
              <a:buSzPts val="1400"/>
              <a:buFont typeface="Arial"/>
              <a:buChar char="●"/>
            </a:pPr>
            <a:r>
              <a:rPr lang="ru-RU" sz="1400" b="0" i="0" u="none" strike="noStrike" cap="none" spc="0">
                <a:solidFill>
                  <a:srgbClr val="0C056D"/>
                </a:solidFill>
                <a:latin typeface="Arial"/>
                <a:ea typeface="Arial"/>
                <a:cs typeface="Arial"/>
                <a:sym typeface="Arial"/>
              </a:rPr>
              <a:t>Ряд 1 – </a:t>
            </a:r>
            <a:r>
              <a:rPr lang="ru-RU" sz="1400" b="1" i="0" u="none" strike="noStrike" cap="none" spc="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Код будущего (тёмно-фиолетовый)</a:t>
            </a:r>
            <a:endParaRPr/>
          </a:p>
          <a:p>
            <a:pPr marL="171450" marR="0" lvl="0" indent="-1714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61AAE"/>
              </a:buClr>
              <a:buSzPts val="1400"/>
              <a:buFont typeface="Arial"/>
              <a:buChar char="●"/>
            </a:pPr>
            <a:r>
              <a:rPr lang="ru-RU"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Ряд 2 – </a:t>
            </a:r>
            <a:r>
              <a:rPr lang="ru-RU" sz="1400" b="1" i="0" u="none" strike="noStrike" cap="none" spc="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Duolingo (розовый)</a:t>
            </a:r>
            <a:endParaRPr/>
          </a:p>
          <a:p>
            <a:pPr marL="171450" marR="0" lvl="0" indent="-1714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61AAE"/>
              </a:buClr>
              <a:buSzPts val="1400"/>
              <a:buFont typeface="Arial"/>
              <a:buChar char="●"/>
            </a:pPr>
            <a:r>
              <a:rPr lang="ru-RU"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Ряд 3 – </a:t>
            </a:r>
            <a:r>
              <a:rPr lang="ru-RU" sz="1400" b="1" i="0" u="none" strike="noStrike" cap="none" spc="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“Поле” (сиреневый)</a:t>
            </a:r>
            <a:endParaRPr/>
          </a:p>
          <a:p>
            <a:pPr marL="171450" marR="0" lvl="0" indent="-825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61AAE"/>
              </a:buClr>
              <a:buSzPts val="1400"/>
              <a:buFont typeface="Arial"/>
              <a:buNone/>
            </a:pP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11"/>
          <p:cNvSpPr/>
          <p:nvPr/>
        </p:nvSpPr>
        <p:spPr>
          <a:xfrm>
            <a:off x="426059" y="214052"/>
            <a:ext cx="6462244" cy="793976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ru-RU" sz="3200" b="1" i="0" u="none" strike="noStrike" cap="none" spc="0">
                <a:solidFill>
                  <a:srgbClr val="590D82"/>
                </a:solidFill>
                <a:latin typeface="Arial"/>
                <a:ea typeface="Arial"/>
                <a:cs typeface="Arial"/>
                <a:sym typeface="Arial"/>
              </a:rPr>
              <a:t>РАЗВИТИЕ СИСТЕМЫ</a:t>
            </a:r>
            <a:endParaRPr/>
          </a:p>
        </p:txBody>
      </p:sp>
      <p:sp>
        <p:nvSpPr>
          <p:cNvPr id="707" name="Google Shape;707;p11"/>
          <p:cNvSpPr/>
          <p:nvPr/>
        </p:nvSpPr>
        <p:spPr>
          <a:xfrm>
            <a:off x="235530" y="918495"/>
            <a:ext cx="4975318" cy="3140788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marR="0" lvl="0" indent="-1714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61AAE"/>
              </a:buClr>
              <a:buSzPts val="1600"/>
              <a:buFont typeface="Arial"/>
              <a:buChar char="●"/>
            </a:pPr>
            <a:r>
              <a:rPr lang="ru-RU" sz="1600" b="0" i="0" u="none" strike="noStrike" cap="none" spc="0">
                <a:solidFill>
                  <a:srgbClr val="0C056D"/>
                </a:solidFill>
                <a:latin typeface="Arial"/>
                <a:ea typeface="Arial"/>
                <a:cs typeface="Arial"/>
                <a:sym typeface="Arial"/>
              </a:rPr>
              <a:t>Формирование образовательной экосистемы для школьников.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61AAE"/>
              </a:buClr>
              <a:buSzPts val="1600"/>
              <a:buFont typeface="Arial"/>
              <a:buChar char="●"/>
            </a:pPr>
            <a:r>
              <a:rPr lang="ru-RU" sz="1600" b="0" i="0" u="none" strike="noStrike" cap="none" spc="0">
                <a:solidFill>
                  <a:srgbClr val="0C056D"/>
                </a:solidFill>
                <a:latin typeface="Arial"/>
                <a:ea typeface="Arial"/>
                <a:cs typeface="Arial"/>
                <a:sym typeface="Arial"/>
              </a:rPr>
              <a:t>Преемственность от школьных знаний к реальным проектам.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61AAE"/>
              </a:buClr>
              <a:buSzPts val="1600"/>
              <a:buFont typeface="Arial"/>
              <a:buChar char="●"/>
            </a:pPr>
            <a:r>
              <a:rPr lang="ru-RU" sz="1600" b="0" i="0" u="none" strike="noStrike" cap="none" spc="0">
                <a:solidFill>
                  <a:srgbClr val="0C056D"/>
                </a:solidFill>
                <a:latin typeface="Arial"/>
                <a:ea typeface="Arial"/>
                <a:cs typeface="Arial"/>
                <a:sym typeface="Arial"/>
              </a:rPr>
              <a:t>Интеграция игровых механик в обучение программированию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61AAE"/>
              </a:buClr>
              <a:buSzPts val="1600"/>
              <a:buFont typeface="Arial"/>
              <a:buChar char="●"/>
            </a:pPr>
            <a:r>
              <a:rPr lang="ru-RU" sz="1600" b="0" i="0" u="none" strike="noStrike" cap="none" spc="0">
                <a:solidFill>
                  <a:srgbClr val="0C056D"/>
                </a:solidFill>
                <a:latin typeface="Arial"/>
                <a:ea typeface="Arial"/>
                <a:cs typeface="Arial"/>
                <a:sym typeface="Arial"/>
              </a:rPr>
              <a:t>Доступность – приложение работает в браузере любого смартфона.</a:t>
            </a:r>
            <a:endParaRPr/>
          </a:p>
          <a:p>
            <a:pPr marL="171450" marR="0" lvl="0" indent="-1714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61AAE"/>
              </a:buClr>
              <a:buSzPts val="1600"/>
              <a:buFont typeface="Arial"/>
              <a:buChar char="●"/>
            </a:pPr>
            <a:r>
              <a:rPr lang="ru-RU" sz="1600" b="0" i="0" u="none" strike="noStrike" cap="none" spc="0">
                <a:solidFill>
                  <a:srgbClr val="0C056D"/>
                </a:solidFill>
                <a:latin typeface="Arial"/>
                <a:ea typeface="Arial"/>
                <a:cs typeface="Arial"/>
                <a:sym typeface="Arial"/>
              </a:rPr>
              <a:t>Масштабируемость – можно добавлять новые темы и уроки.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11"/>
          <p:cNvSpPr/>
          <p:nvPr/>
        </p:nvSpPr>
        <p:spPr>
          <a:xfrm>
            <a:off x="5682343" y="94309"/>
            <a:ext cx="3004457" cy="3072086"/>
          </a:xfrm>
          <a:prstGeom prst="roundRect">
            <a:avLst>
              <a:gd name="adj" fmla="val 12687"/>
            </a:avLst>
          </a:prstGeom>
          <a:gradFill>
            <a:gsLst>
              <a:gs pos="0">
                <a:srgbClr val="590D82"/>
              </a:gs>
              <a:gs pos="98000">
                <a:srgbClr val="0C056D"/>
              </a:gs>
              <a:gs pos="100000">
                <a:srgbClr val="0C056D"/>
              </a:gs>
            </a:gsLst>
            <a:lin ang="2700000" scaled="0"/>
          </a:gradFill>
          <a:ln w="9525" cap="flat" cmpd="sng">
            <a:solidFill>
              <a:srgbClr val="B61AA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1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Вывод:</a:t>
            </a:r>
            <a:endParaRPr sz="1600" b="1" i="0" u="none" strike="noStrike" cap="none" spc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1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Приложение “Поле” – это первый шаг подростка к программированию.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1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Оно совмещает мобильность, геймификацию и обучение – то, чего нет у аналогов.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1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Проект готов к развитию: новые темы, уровни.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09" name="Google Shape;709;p11"/>
          <p:cNvCxnSpPr/>
          <p:nvPr/>
        </p:nvCxnSpPr>
        <p:spPr>
          <a:xfrm rot="10800000" flipH="1">
            <a:off x="547807" y="816429"/>
            <a:ext cx="4350764" cy="21771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710" name="Google Shape;710;p11"/>
          <p:cNvSpPr/>
          <p:nvPr/>
        </p:nvSpPr>
        <p:spPr>
          <a:xfrm>
            <a:off x="5747656" y="3286138"/>
            <a:ext cx="2873830" cy="1776393"/>
          </a:xfrm>
          <a:prstGeom prst="roundRect">
            <a:avLst>
              <a:gd name="adj" fmla="val 12687"/>
            </a:avLst>
          </a:prstGeom>
          <a:gradFill>
            <a:gsLst>
              <a:gs pos="0">
                <a:srgbClr val="590D82"/>
              </a:gs>
              <a:gs pos="98000">
                <a:srgbClr val="0C056D"/>
              </a:gs>
              <a:gs pos="100000">
                <a:srgbClr val="0C056D"/>
              </a:gs>
            </a:gsLst>
            <a:lin ang="2700000" scaled="0"/>
          </a:gradFill>
          <a:ln w="9525" cap="flat" cmpd="sng">
            <a:solidFill>
              <a:srgbClr val="B61AA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1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Связи:</a:t>
            </a:r>
            <a:br>
              <a:rPr lang="ru-RU" sz="1600" b="1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600" b="1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Интеграция инженерии, информациоонных технологий, естественных наук и проектного мышления – через игровую практику.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11"/>
          <p:cNvSpPr/>
          <p:nvPr/>
        </p:nvSpPr>
        <p:spPr>
          <a:xfrm>
            <a:off x="67095" y="4398418"/>
            <a:ext cx="5615248" cy="108268"/>
          </a:xfrm>
          <a:prstGeom prst="roundRect">
            <a:avLst>
              <a:gd name="adj" fmla="val 50000"/>
            </a:avLst>
          </a:prstGeom>
          <a:solidFill>
            <a:srgbClr val="B3C6E7"/>
          </a:solidFill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spc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12"/>
          <p:cNvSpPr/>
          <p:nvPr/>
        </p:nvSpPr>
        <p:spPr>
          <a:xfrm>
            <a:off x="409482" y="2827982"/>
            <a:ext cx="4914358" cy="674448"/>
          </a:xfrm>
          <a:prstGeom prst="roundRect">
            <a:avLst>
              <a:gd name="adj" fmla="val 33488"/>
            </a:avLst>
          </a:prstGeom>
          <a:solidFill>
            <a:srgbClr val="F2F2F2"/>
          </a:solidFill>
          <a:ln w="9525" cap="flat" cmpd="sng">
            <a:solidFill>
              <a:srgbClr val="B61AA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1" i="0" u="none" strike="noStrike" cap="none" spc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Урок</a:t>
            </a:r>
            <a:endParaRPr sz="1400" b="1" i="0" u="none" strike="noStrike" cap="none" spc="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12"/>
          <p:cNvSpPr/>
          <p:nvPr/>
        </p:nvSpPr>
        <p:spPr>
          <a:xfrm>
            <a:off x="426059" y="214052"/>
            <a:ext cx="6462244" cy="793976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ru-RU" sz="3200" b="1" i="0" u="none" strike="noStrike" cap="none" spc="0">
                <a:solidFill>
                  <a:srgbClr val="590D82"/>
                </a:solidFill>
                <a:latin typeface="Arial"/>
                <a:ea typeface="Arial"/>
                <a:cs typeface="Arial"/>
                <a:sym typeface="Arial"/>
              </a:rPr>
              <a:t>Вспомогательные элементы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8" name="Google Shape;718;p12"/>
          <p:cNvSpPr/>
          <p:nvPr/>
        </p:nvSpPr>
        <p:spPr>
          <a:xfrm>
            <a:off x="409483" y="1134032"/>
            <a:ext cx="2110197" cy="1518709"/>
          </a:xfrm>
          <a:prstGeom prst="roundRect">
            <a:avLst>
              <a:gd name="adj" fmla="val 15024"/>
            </a:avLst>
          </a:prstGeom>
          <a:solidFill>
            <a:srgbClr val="F2F2F2"/>
          </a:solidFill>
          <a:ln w="9525" cap="flat" cmpd="sng">
            <a:solidFill>
              <a:srgbClr val="B61AA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1" i="0" u="none" strike="noStrike" cap="none" spc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Стартовый экран</a:t>
            </a:r>
            <a:endParaRPr sz="1400" b="1" i="0" u="none" strike="noStrike" cap="none" spc="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p12"/>
          <p:cNvSpPr/>
          <p:nvPr/>
        </p:nvSpPr>
        <p:spPr>
          <a:xfrm>
            <a:off x="3213643" y="1134033"/>
            <a:ext cx="2110197" cy="674448"/>
          </a:xfrm>
          <a:prstGeom prst="roundRect">
            <a:avLst>
              <a:gd name="adj" fmla="val 33488"/>
            </a:avLst>
          </a:prstGeom>
          <a:solidFill>
            <a:srgbClr val="F2F2F2"/>
          </a:solidFill>
          <a:ln w="9525" cap="flat" cmpd="sng">
            <a:solidFill>
              <a:srgbClr val="B61AA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1" i="0" u="none" strike="noStrike" cap="none" spc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Экран “Как играть”</a:t>
            </a:r>
            <a:endParaRPr sz="1400" b="0" i="0" u="none" strike="noStrike" cap="none" spc="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p12"/>
          <p:cNvSpPr/>
          <p:nvPr/>
        </p:nvSpPr>
        <p:spPr>
          <a:xfrm>
            <a:off x="2639511" y="1295400"/>
            <a:ext cx="488499" cy="345671"/>
          </a:xfrm>
          <a:prstGeom prst="rightArrow">
            <a:avLst>
              <a:gd name="adj1" fmla="val 15625"/>
              <a:gd name="adj2" fmla="val 50000"/>
            </a:avLst>
          </a:prstGeom>
          <a:solidFill>
            <a:srgbClr val="B61AA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 spc="0">
              <a:solidFill>
                <a:srgbClr val="B61AA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p12"/>
          <p:cNvSpPr/>
          <p:nvPr/>
        </p:nvSpPr>
        <p:spPr>
          <a:xfrm rot="5400000">
            <a:off x="1468699" y="3535922"/>
            <a:ext cx="325946" cy="345671"/>
          </a:xfrm>
          <a:prstGeom prst="rightArrow">
            <a:avLst>
              <a:gd name="adj1" fmla="val 15625"/>
              <a:gd name="adj2" fmla="val 50000"/>
            </a:avLst>
          </a:prstGeom>
          <a:solidFill>
            <a:srgbClr val="B61AA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 spc="0">
              <a:solidFill>
                <a:srgbClr val="B61AA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12"/>
          <p:cNvSpPr/>
          <p:nvPr/>
        </p:nvSpPr>
        <p:spPr>
          <a:xfrm rot="5400000">
            <a:off x="3667044" y="3535923"/>
            <a:ext cx="325946" cy="345671"/>
          </a:xfrm>
          <a:prstGeom prst="rightArrow">
            <a:avLst>
              <a:gd name="adj1" fmla="val 15625"/>
              <a:gd name="adj2" fmla="val 50000"/>
            </a:avLst>
          </a:prstGeom>
          <a:solidFill>
            <a:srgbClr val="B61AA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 spc="0">
              <a:solidFill>
                <a:srgbClr val="B61AA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p12"/>
          <p:cNvSpPr/>
          <p:nvPr/>
        </p:nvSpPr>
        <p:spPr>
          <a:xfrm>
            <a:off x="409483" y="3915085"/>
            <a:ext cx="2110197" cy="674448"/>
          </a:xfrm>
          <a:prstGeom prst="roundRect">
            <a:avLst>
              <a:gd name="adj" fmla="val 33488"/>
            </a:avLst>
          </a:prstGeom>
          <a:solidFill>
            <a:srgbClr val="F2F2F2"/>
          </a:solidFill>
          <a:ln w="9525" cap="flat" cmpd="sng">
            <a:solidFill>
              <a:srgbClr val="B61AA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1" i="0" u="none" strike="noStrike" cap="none" spc="0">
                <a:solidFill>
                  <a:srgbClr val="B61AAE"/>
                </a:solidFill>
                <a:latin typeface="Arial"/>
                <a:ea typeface="Arial"/>
                <a:cs typeface="Arial"/>
                <a:sym typeface="Arial"/>
              </a:rPr>
              <a:t>Звёзды, прогресс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4" name="Google Shape;724;p12"/>
          <p:cNvSpPr/>
          <p:nvPr/>
        </p:nvSpPr>
        <p:spPr>
          <a:xfrm>
            <a:off x="3213643" y="3915085"/>
            <a:ext cx="2110197" cy="674448"/>
          </a:xfrm>
          <a:prstGeom prst="roundRect">
            <a:avLst>
              <a:gd name="adj" fmla="val 33488"/>
            </a:avLst>
          </a:prstGeom>
          <a:solidFill>
            <a:srgbClr val="F2F2F2"/>
          </a:solidFill>
          <a:ln w="9525" cap="flat" cmpd="sng">
            <a:solidFill>
              <a:srgbClr val="B61AA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1" i="0" u="none" strike="noStrike" cap="none" spc="0">
                <a:solidFill>
                  <a:srgbClr val="B61AAE"/>
                </a:solidFill>
                <a:latin typeface="Arial"/>
                <a:ea typeface="Arial"/>
                <a:cs typeface="Arial"/>
                <a:sym typeface="Arial"/>
              </a:rPr>
              <a:t>Награды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5" name="Google Shape;725;p12"/>
          <p:cNvSpPr/>
          <p:nvPr/>
        </p:nvSpPr>
        <p:spPr>
          <a:xfrm>
            <a:off x="3213643" y="1978294"/>
            <a:ext cx="2110197" cy="674448"/>
          </a:xfrm>
          <a:prstGeom prst="roundRect">
            <a:avLst>
              <a:gd name="adj" fmla="val 33488"/>
            </a:avLst>
          </a:prstGeom>
          <a:solidFill>
            <a:srgbClr val="F2F2F2"/>
          </a:solidFill>
          <a:ln w="9525" cap="flat" cmpd="sng">
            <a:solidFill>
              <a:srgbClr val="B61AA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1" i="0" u="none" strike="noStrike" cap="none" spc="0">
                <a:solidFill>
                  <a:srgbClr val="B61AAE"/>
                </a:solidFill>
                <a:latin typeface="Arial"/>
                <a:ea typeface="Arial"/>
                <a:cs typeface="Arial"/>
                <a:sym typeface="Arial"/>
              </a:rPr>
              <a:t>Первый урок</a:t>
            </a:r>
            <a:endParaRPr/>
          </a:p>
        </p:txBody>
      </p:sp>
      <p:sp>
        <p:nvSpPr>
          <p:cNvPr id="726" name="Google Shape;726;p12"/>
          <p:cNvSpPr/>
          <p:nvPr/>
        </p:nvSpPr>
        <p:spPr>
          <a:xfrm>
            <a:off x="2639511" y="2139661"/>
            <a:ext cx="488499" cy="345671"/>
          </a:xfrm>
          <a:prstGeom prst="rightArrow">
            <a:avLst>
              <a:gd name="adj1" fmla="val 15625"/>
              <a:gd name="adj2" fmla="val 50000"/>
            </a:avLst>
          </a:prstGeom>
          <a:solidFill>
            <a:srgbClr val="B61AA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 spc="0">
              <a:solidFill>
                <a:srgbClr val="B61AA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12"/>
          <p:cNvSpPr/>
          <p:nvPr/>
        </p:nvSpPr>
        <p:spPr>
          <a:xfrm>
            <a:off x="6017803" y="1134033"/>
            <a:ext cx="2110197" cy="674448"/>
          </a:xfrm>
          <a:prstGeom prst="roundRect">
            <a:avLst>
              <a:gd name="adj" fmla="val 33488"/>
            </a:avLst>
          </a:prstGeom>
          <a:solidFill>
            <a:srgbClr val="F25D9C"/>
          </a:solidFill>
          <a:ln w="9525" cap="flat" cmpd="sng">
            <a:solidFill>
              <a:srgbClr val="B61AA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1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Урок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12"/>
          <p:cNvSpPr/>
          <p:nvPr/>
        </p:nvSpPr>
        <p:spPr>
          <a:xfrm rot="5400000">
            <a:off x="6909927" y="1850860"/>
            <a:ext cx="325946" cy="345671"/>
          </a:xfrm>
          <a:prstGeom prst="rightArrow">
            <a:avLst>
              <a:gd name="adj1" fmla="val 15625"/>
              <a:gd name="adj2" fmla="val 50000"/>
            </a:avLst>
          </a:prstGeom>
          <a:solidFill>
            <a:srgbClr val="B61AA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 spc="0">
              <a:solidFill>
                <a:srgbClr val="B61AA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12"/>
          <p:cNvSpPr/>
          <p:nvPr/>
        </p:nvSpPr>
        <p:spPr>
          <a:xfrm>
            <a:off x="6017803" y="2234526"/>
            <a:ext cx="2110197" cy="674448"/>
          </a:xfrm>
          <a:prstGeom prst="roundRect">
            <a:avLst>
              <a:gd name="adj" fmla="val 33488"/>
            </a:avLst>
          </a:prstGeom>
          <a:solidFill>
            <a:srgbClr val="F25D9C"/>
          </a:solidFill>
          <a:ln w="9525" cap="flat" cmpd="sng">
            <a:solidFill>
              <a:srgbClr val="B61AA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1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Пропуск урока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0" name="Google Shape;730;p12"/>
          <p:cNvSpPr/>
          <p:nvPr/>
        </p:nvSpPr>
        <p:spPr>
          <a:xfrm rot="5400000">
            <a:off x="6909927" y="2951353"/>
            <a:ext cx="325946" cy="345671"/>
          </a:xfrm>
          <a:prstGeom prst="rightArrow">
            <a:avLst>
              <a:gd name="adj1" fmla="val 15625"/>
              <a:gd name="adj2" fmla="val 50000"/>
            </a:avLst>
          </a:prstGeom>
          <a:solidFill>
            <a:srgbClr val="B61AA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 spc="0">
              <a:solidFill>
                <a:srgbClr val="B61AA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p12"/>
          <p:cNvSpPr/>
          <p:nvPr/>
        </p:nvSpPr>
        <p:spPr>
          <a:xfrm>
            <a:off x="6017801" y="3335019"/>
            <a:ext cx="2110197" cy="674448"/>
          </a:xfrm>
          <a:prstGeom prst="roundRect">
            <a:avLst>
              <a:gd name="adj" fmla="val 33488"/>
            </a:avLst>
          </a:prstGeom>
          <a:solidFill>
            <a:srgbClr val="B61AAE"/>
          </a:solidFill>
          <a:ln w="9525" cap="flat" cmpd="sng">
            <a:solidFill>
              <a:srgbClr val="B61AA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1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Обнуление прогресса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32" name="Google Shape;732;p12"/>
          <p:cNvCxnSpPr/>
          <p:nvPr/>
        </p:nvCxnSpPr>
        <p:spPr>
          <a:xfrm rot="10800000" flipH="1">
            <a:off x="547807" y="827314"/>
            <a:ext cx="5765907" cy="10887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dash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13"/>
          <p:cNvSpPr/>
          <p:nvPr/>
        </p:nvSpPr>
        <p:spPr>
          <a:xfrm>
            <a:off x="426059" y="214052"/>
            <a:ext cx="6462244" cy="793976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ru-RU" sz="3200" b="1" i="0" u="none" strike="noStrike" cap="none" spc="0">
                <a:solidFill>
                  <a:srgbClr val="590D82"/>
                </a:solidFill>
                <a:latin typeface="Arial"/>
                <a:ea typeface="Arial"/>
                <a:cs typeface="Arial"/>
                <a:sym typeface="Arial"/>
              </a:rPr>
              <a:t>Вспомогательные элементы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8" name="Google Shape;738;p13"/>
          <p:cNvSpPr/>
          <p:nvPr/>
        </p:nvSpPr>
        <p:spPr>
          <a:xfrm>
            <a:off x="5304292" y="1367961"/>
            <a:ext cx="3420607" cy="111598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9" name="Google Shape;739;p13"/>
          <p:cNvSpPr/>
          <p:nvPr/>
        </p:nvSpPr>
        <p:spPr>
          <a:xfrm>
            <a:off x="436586" y="1265256"/>
            <a:ext cx="4217243" cy="1291591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61AAE"/>
              </a:buClr>
              <a:buSzPts val="1400"/>
              <a:buFont typeface="Arial"/>
              <a:buChar char="●"/>
            </a:pPr>
            <a:r>
              <a:rPr lang="ru-RU" sz="1400" b="1" i="0" u="none" strike="noStrike" cap="none" spc="0">
                <a:solidFill>
                  <a:srgbClr val="0C056D"/>
                </a:solidFill>
                <a:latin typeface="Arial"/>
                <a:ea typeface="Arial"/>
                <a:cs typeface="Arial"/>
                <a:sym typeface="Arial"/>
              </a:rPr>
              <a:t>Дух</a:t>
            </a:r>
            <a:r>
              <a:rPr lang="ru-RU" sz="1400" b="0" i="0" u="none" strike="noStrike" cap="none" spc="0">
                <a:solidFill>
                  <a:srgbClr val="0C056D"/>
                </a:solidFill>
                <a:latin typeface="Arial"/>
                <a:ea typeface="Arial"/>
                <a:cs typeface="Arial"/>
                <a:sym typeface="Arial"/>
              </a:rPr>
              <a:t> – наставник, который ведёт игрока.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61AAE"/>
              </a:buClr>
              <a:buSzPts val="1400"/>
              <a:buFont typeface="Arial"/>
              <a:buChar char="●"/>
            </a:pPr>
            <a:r>
              <a:rPr lang="ru-RU" sz="1400" b="1" i="0" u="none" strike="noStrike" cap="none" spc="0">
                <a:solidFill>
                  <a:srgbClr val="0C056D"/>
                </a:solidFill>
                <a:latin typeface="Arial"/>
                <a:ea typeface="Arial"/>
                <a:cs typeface="Arial"/>
                <a:sym typeface="Arial"/>
              </a:rPr>
              <a:t>5 жизней </a:t>
            </a:r>
            <a:r>
              <a:rPr lang="ru-RU" sz="1400" b="0" i="0" u="none" strike="noStrike" cap="none" spc="0">
                <a:solidFill>
                  <a:srgbClr val="0C056D"/>
                </a:solidFill>
                <a:latin typeface="Arial"/>
                <a:ea typeface="Arial"/>
                <a:cs typeface="Arial"/>
                <a:sym typeface="Arial"/>
              </a:rPr>
              <a:t>– механика перерождения.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61AAE"/>
              </a:buClr>
              <a:buSzPts val="1400"/>
              <a:buFont typeface="Arial"/>
              <a:buChar char="●"/>
            </a:pPr>
            <a:r>
              <a:rPr lang="ru-RU" sz="1400" b="1" i="0" u="none" strike="noStrike" cap="none" spc="0">
                <a:solidFill>
                  <a:srgbClr val="0C056D"/>
                </a:solidFill>
                <a:latin typeface="Arial"/>
                <a:ea typeface="Arial"/>
                <a:cs typeface="Arial"/>
                <a:sym typeface="Arial"/>
              </a:rPr>
              <a:t>Звёзды</a:t>
            </a:r>
            <a:r>
              <a:rPr lang="ru-RU" sz="1400" b="0" i="0" u="none" strike="noStrike" cap="none" spc="0">
                <a:solidFill>
                  <a:srgbClr val="0C056D"/>
                </a:solidFill>
                <a:latin typeface="Arial"/>
                <a:ea typeface="Arial"/>
                <a:cs typeface="Arial"/>
                <a:sym typeface="Arial"/>
              </a:rPr>
              <a:t> – отображение прогресса</a:t>
            </a:r>
            <a:endParaRPr/>
          </a:p>
          <a:p>
            <a:pPr marL="171450" marR="0" lvl="0" indent="-1714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61AAE"/>
              </a:buClr>
              <a:buSzPts val="1400"/>
              <a:buFont typeface="Arial"/>
              <a:buChar char="●"/>
            </a:pPr>
            <a:r>
              <a:rPr lang="ru-RU" sz="1400" b="1" i="0" u="none" strike="noStrike" cap="none" spc="0">
                <a:solidFill>
                  <a:srgbClr val="0C056D"/>
                </a:solidFill>
                <a:latin typeface="Arial"/>
                <a:ea typeface="Arial"/>
                <a:cs typeface="Arial"/>
                <a:sym typeface="Arial"/>
              </a:rPr>
              <a:t>Награды</a:t>
            </a:r>
            <a:endParaRPr/>
          </a:p>
          <a:p>
            <a:pPr marL="171450" marR="0" lvl="0" indent="-1714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61AAE"/>
              </a:buClr>
              <a:buSzPts val="1400"/>
              <a:buFont typeface="Arial"/>
              <a:buChar char="●"/>
            </a:pPr>
            <a:r>
              <a:rPr lang="ru-RU" sz="1400" b="1" i="0" u="none" strike="noStrike" cap="none" spc="0">
                <a:solidFill>
                  <a:srgbClr val="0C056D"/>
                </a:solidFill>
                <a:latin typeface="Arial"/>
                <a:ea typeface="Arial"/>
                <a:cs typeface="Arial"/>
                <a:sym typeface="Arial"/>
              </a:rPr>
              <a:t>Подсказки</a:t>
            </a:r>
            <a:r>
              <a:rPr lang="ru-RU" sz="1400" b="0" i="0" u="none" strike="noStrike" cap="none" spc="0">
                <a:solidFill>
                  <a:srgbClr val="0C056D"/>
                </a:solidFill>
                <a:latin typeface="Arial"/>
                <a:ea typeface="Arial"/>
                <a:cs typeface="Arial"/>
                <a:sym typeface="Arial"/>
              </a:rPr>
              <a:t> – после 3 ошибок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ru-RU" sz="1400" b="1" i="0" u="none" strike="noStrike" cap="none" spc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ТЕХНОЛОГИИ: HTML, CSS, JavaScript, PWA</a:t>
            </a:r>
            <a:endParaRPr sz="1400" b="1" i="0" u="none" strike="noStrike" cap="none" spc="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40" name="Google Shape;740;p13"/>
          <p:cNvCxnSpPr/>
          <p:nvPr/>
        </p:nvCxnSpPr>
        <p:spPr>
          <a:xfrm rot="10800000" flipH="1">
            <a:off x="547807" y="838200"/>
            <a:ext cx="5776793" cy="1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741" name="Google Shape;741;p13"/>
          <p:cNvSpPr/>
          <p:nvPr/>
        </p:nvSpPr>
        <p:spPr>
          <a:xfrm>
            <a:off x="4618132" y="1172819"/>
            <a:ext cx="4411272" cy="674448"/>
          </a:xfrm>
          <a:prstGeom prst="roundRect">
            <a:avLst>
              <a:gd name="adj" fmla="val 33488"/>
            </a:avLst>
          </a:prstGeom>
          <a:solidFill>
            <a:srgbClr val="F2F2F2"/>
          </a:solidFill>
          <a:ln w="9525" cap="flat" cmpd="sng">
            <a:solidFill>
              <a:srgbClr val="B61AA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1" i="0" u="none" strike="noStrike" cap="none" spc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Урок 1       Урок 2       Урок 3 </a:t>
            </a:r>
            <a:endParaRPr sz="1400" b="1" i="0" u="none" strike="noStrike" cap="none" spc="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13"/>
          <p:cNvSpPr/>
          <p:nvPr/>
        </p:nvSpPr>
        <p:spPr>
          <a:xfrm rot="5400000">
            <a:off x="7811330" y="1921599"/>
            <a:ext cx="325946" cy="345671"/>
          </a:xfrm>
          <a:prstGeom prst="rightArrow">
            <a:avLst>
              <a:gd name="adj1" fmla="val 15625"/>
              <a:gd name="adj2" fmla="val 50000"/>
            </a:avLst>
          </a:prstGeom>
          <a:solidFill>
            <a:srgbClr val="B61AA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 spc="0">
              <a:solidFill>
                <a:srgbClr val="B61AA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3" name="Google Shape;743;p13"/>
          <p:cNvSpPr/>
          <p:nvPr/>
        </p:nvSpPr>
        <p:spPr>
          <a:xfrm>
            <a:off x="4618132" y="2290637"/>
            <a:ext cx="2110197" cy="674448"/>
          </a:xfrm>
          <a:prstGeom prst="roundRect">
            <a:avLst>
              <a:gd name="adj" fmla="val 33488"/>
            </a:avLst>
          </a:prstGeom>
          <a:solidFill>
            <a:srgbClr val="F2F2F2"/>
          </a:solidFill>
          <a:ln w="9525" cap="flat" cmpd="sng">
            <a:solidFill>
              <a:srgbClr val="B61AA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1" i="0" u="none" strike="noStrike" cap="none" spc="0">
                <a:solidFill>
                  <a:srgbClr val="B61AAE"/>
                </a:solidFill>
                <a:latin typeface="Arial"/>
                <a:ea typeface="Arial"/>
                <a:cs typeface="Arial"/>
                <a:sym typeface="Arial"/>
              </a:rPr>
              <a:t>Итоговый экран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4" name="Google Shape;744;p13"/>
          <p:cNvSpPr/>
          <p:nvPr/>
        </p:nvSpPr>
        <p:spPr>
          <a:xfrm>
            <a:off x="6919206" y="2300763"/>
            <a:ext cx="2110197" cy="674448"/>
          </a:xfrm>
          <a:prstGeom prst="roundRect">
            <a:avLst>
              <a:gd name="adj" fmla="val 33488"/>
            </a:avLst>
          </a:prstGeom>
          <a:solidFill>
            <a:srgbClr val="F2F2F2"/>
          </a:solidFill>
          <a:ln w="9525" cap="flat" cmpd="sng">
            <a:solidFill>
              <a:srgbClr val="B61AA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1" i="0" u="none" strike="noStrike" cap="none" spc="0">
                <a:solidFill>
                  <a:srgbClr val="B61AAE"/>
                </a:solidFill>
                <a:latin typeface="Arial"/>
                <a:ea typeface="Arial"/>
                <a:cs typeface="Arial"/>
                <a:sym typeface="Arial"/>
              </a:rPr>
              <a:t>Возврат к урокам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p13"/>
          <p:cNvSpPr/>
          <p:nvPr/>
        </p:nvSpPr>
        <p:spPr>
          <a:xfrm rot="5400000">
            <a:off x="5528105" y="1921600"/>
            <a:ext cx="325946" cy="345671"/>
          </a:xfrm>
          <a:prstGeom prst="rightArrow">
            <a:avLst>
              <a:gd name="adj1" fmla="val 15625"/>
              <a:gd name="adj2" fmla="val 50000"/>
            </a:avLst>
          </a:prstGeom>
          <a:solidFill>
            <a:srgbClr val="B61AA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 spc="0">
              <a:solidFill>
                <a:srgbClr val="B61AA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p13"/>
          <p:cNvSpPr/>
          <p:nvPr/>
        </p:nvSpPr>
        <p:spPr>
          <a:xfrm>
            <a:off x="6270171" y="1443806"/>
            <a:ext cx="236603" cy="188370"/>
          </a:xfrm>
          <a:prstGeom prst="rightArrow">
            <a:avLst>
              <a:gd name="adj1" fmla="val 15625"/>
              <a:gd name="adj2" fmla="val 50000"/>
            </a:avLst>
          </a:prstGeom>
          <a:solidFill>
            <a:srgbClr val="B61AA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 spc="0">
              <a:solidFill>
                <a:srgbClr val="B61AA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p13"/>
          <p:cNvSpPr/>
          <p:nvPr/>
        </p:nvSpPr>
        <p:spPr>
          <a:xfrm>
            <a:off x="7157237" y="1415858"/>
            <a:ext cx="236603" cy="188370"/>
          </a:xfrm>
          <a:prstGeom prst="rightArrow">
            <a:avLst>
              <a:gd name="adj1" fmla="val 15625"/>
              <a:gd name="adj2" fmla="val 50000"/>
            </a:avLst>
          </a:prstGeom>
          <a:solidFill>
            <a:srgbClr val="B61AA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 spc="0">
              <a:solidFill>
                <a:srgbClr val="B61AA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48" name="Google Shape;748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972" y="2927315"/>
            <a:ext cx="3259894" cy="1978059"/>
          </a:xfrm>
          <a:prstGeom prst="rect">
            <a:avLst/>
          </a:prstGeom>
          <a:noFill/>
          <a:ln>
            <a:noFill/>
          </a:ln>
        </p:spPr>
      </p:pic>
      <p:sp>
        <p:nvSpPr>
          <p:cNvPr id="749" name="Google Shape;749;p13"/>
          <p:cNvSpPr/>
          <p:nvPr/>
        </p:nvSpPr>
        <p:spPr>
          <a:xfrm>
            <a:off x="3548743" y="3698629"/>
            <a:ext cx="1861478" cy="435429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3153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spc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50" name="Google Shape;750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50971" y="2937442"/>
            <a:ext cx="4336423" cy="22370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716</Words>
  <Application>Microsoft Office PowerPoint</Application>
  <PresentationFormat>Экран (16:9)</PresentationFormat>
  <Paragraphs>185</Paragraphs>
  <Slides>14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8" baseType="lpstr">
      <vt:lpstr>Roboto Mono</vt:lpstr>
      <vt:lpstr>Arial</vt:lpstr>
      <vt:lpstr>Calibri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Игнатов Николай Николаевич</dc:creator>
  <cp:lastModifiedBy>RePack by Diakov</cp:lastModifiedBy>
  <cp:revision>4</cp:revision>
  <dcterms:modified xsi:type="dcterms:W3CDTF">2026-10-16T18:59:18Z</dcterms:modified>
</cp:coreProperties>
</file>