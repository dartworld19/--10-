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dLD28k4lLANPNTkK6nIfpNxlP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9541A1-EC09-42E9-8AD2-F4AEE8F2B24E}">
  <a:tblStyle styleId="{F49541A1-EC09-42E9-8AD2-F4AEE8F2B24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1" name="Google Shape;51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8" name="Google Shape;538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2" name="Google Shape;562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8" name="Google Shape;578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0" name="Google Shape;590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1" name="Google Shape;621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0" name="Google Shape;640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2" name="Google Shape;662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8" name="Google Shape;6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5" name="Google Shape;6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4" name="Google Shape;7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4" name="Google Shape;71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5" name="Google Shape;73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0C056D"/>
              </a:gs>
              <a:gs pos="44000">
                <a:srgbClr val="0C056D"/>
              </a:gs>
              <a:gs pos="100000">
                <a:srgbClr val="590D82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5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ru-RU" spc="0" sz="1050" u="none" cap="none" strike="noStrike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pc="0" sz="1400" u="none" cap="none" strike="noStrike">
              <a:solidFill>
                <a:srgbClr val="F25D9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oogle Shape;15;p15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16" name="Google Shape;16;p15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17" name="Google Shape;17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" name="Google Shape;29;p15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30" name="Google Shape;30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" name="Google Shape;42;p15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43" name="Google Shape;43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" name="Google Shape;55;p15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56" name="Google Shape;56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15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69" name="Google Shape;69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81;p15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82" name="Google Shape;82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1_Заголовок и объект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A19FC7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8544560" y="4874269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ru-RU" spc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16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99" name="Google Shape;99;p16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100" name="Google Shape;100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2" name="Google Shape;112;p16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113" name="Google Shape;113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" name="Google Shape;125;p16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126" name="Google Shape;126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" name="Google Shape;138;p16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139" name="Google Shape;139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1" name="Google Shape;151;p16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152" name="Google Shape;152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" name="Google Shape;164;p16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165" name="Google Shape;165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7" name="Google Shape;177;p16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ru-RU" spc="0" sz="1050" u="none" cap="none" strike="noStrike">
                <a:solidFill>
                  <a:srgbClr val="00549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pc="0" sz="1400" u="none" cap="none" strike="noStrike">
              <a:solidFill>
                <a:srgbClr val="00549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1_Заголовок и объект 2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0C056D"/>
              </a:gs>
              <a:gs pos="2597">
                <a:srgbClr val="0C056D"/>
              </a:gs>
              <a:gs pos="100000">
                <a:srgbClr val="5A90BE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17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182" name="Google Shape;182;p17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183" name="Google Shape;183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195;p17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196" name="Google Shape;196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208;p17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209" name="Google Shape;209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221;p17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222" name="Google Shape;222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17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235" name="Google Shape;235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7" name="Google Shape;247;p17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248" name="Google Shape;248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0" name="Google Shape;260;p17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ru-RU" spc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1_Заголовок и объект 3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F25D9C"/>
              </a:gs>
              <a:gs pos="100000">
                <a:srgbClr val="F8ADCD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18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265" name="Google Shape;265;p18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266" name="Google Shape;266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8" name="Google Shape;278;p18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279" name="Google Shape;279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18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292" name="Google Shape;292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4" name="Google Shape;304;p18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305" name="Google Shape;305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7" name="Google Shape;317;p18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318" name="Google Shape;318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0" name="Google Shape;330;p18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331" name="Google Shape;331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3" name="Google Shape;343;p18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ru-RU" spc="0" sz="105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pc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1_Заголовок и объект 4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9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00549A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19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348" name="Google Shape;348;p19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349" name="Google Shape;349;p19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19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19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19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19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19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19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9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9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19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19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19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1" name="Google Shape;361;p19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362" name="Google Shape;362;p19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19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19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9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9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19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9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9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9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19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p19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375" name="Google Shape;375;p19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19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19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19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19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7" name="Google Shape;387;p19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388" name="Google Shape;388;p19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19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19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19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9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19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" name="Google Shape;400;p19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401" name="Google Shape;401;p19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19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3" name="Google Shape;413;p19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414" name="Google Shape;414;p19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26" name="Google Shape;426;p19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ru-RU" spc="0" sz="1050" u="none" cap="none" strike="noStrike">
                <a:solidFill>
                  <a:srgbClr val="00549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pc="0" sz="1400" u="none" cap="none" strike="noStrike">
              <a:solidFill>
                <a:srgbClr val="00549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1_Титульный слайд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0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0C056D"/>
              </a:gs>
              <a:gs pos="44000">
                <a:srgbClr val="0C056D"/>
              </a:gs>
              <a:gs pos="100000">
                <a:srgbClr val="590D82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0" name="Google Shape;430;p20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431" name="Google Shape;431;p20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432" name="Google Shape;432;p20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20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20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20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20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20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20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20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20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20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20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20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4" name="Google Shape;444;p20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445" name="Google Shape;445;p20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20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20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20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20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20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20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20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20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20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20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0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20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458" name="Google Shape;458;p20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0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20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20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20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20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20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20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20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20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20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20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p20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471" name="Google Shape;471;p20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20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20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20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20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20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20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20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20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20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20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3" name="Google Shape;483;p20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484" name="Google Shape;484;p20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20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20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20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20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20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20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20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20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20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20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20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6" name="Google Shape;496;p20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497" name="Google Shape;497;p20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20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20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20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20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20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20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20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20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20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20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20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pc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pc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pc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pc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pc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18.png"/><Relationship Id="rId8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545"/>
            <a:ext cx="9130709" cy="5137955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"/>
          <p:cNvSpPr/>
          <p:nvPr/>
        </p:nvSpPr>
        <p:spPr>
          <a:xfrm>
            <a:off x="-33980" y="-5545"/>
            <a:ext cx="9177980" cy="5143500"/>
          </a:xfrm>
          <a:prstGeom prst="rect">
            <a:avLst/>
          </a:prstGeom>
          <a:gradFill>
            <a:gsLst>
              <a:gs pos="0">
                <a:srgbClr val="0C056D">
                  <a:alpha val="81961"/>
                </a:srgbClr>
              </a:gs>
              <a:gs pos="866">
                <a:srgbClr val="0C056D">
                  <a:alpha val="81961"/>
                </a:srgbClr>
              </a:gs>
              <a:gs pos="28000">
                <a:srgbClr val="0C056D">
                  <a:alpha val="81961"/>
                </a:srgbClr>
              </a:gs>
              <a:gs pos="70000">
                <a:srgbClr val="590D82">
                  <a:alpha val="67843"/>
                </a:srgbClr>
              </a:gs>
              <a:gs pos="100000">
                <a:srgbClr val="590D82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"/>
          <p:cNvSpPr/>
          <p:nvPr/>
        </p:nvSpPr>
        <p:spPr>
          <a:xfrm>
            <a:off x="-14387333" y="-3608740"/>
            <a:ext cx="11285318" cy="335284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"/>
          <p:cNvSpPr txBox="1"/>
          <p:nvPr/>
        </p:nvSpPr>
        <p:spPr>
          <a:xfrm>
            <a:off x="563879" y="3691805"/>
            <a:ext cx="4796986" cy="97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7" name="Google Shape;5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8936" y="233660"/>
            <a:ext cx="1067132" cy="718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5888" y="299481"/>
            <a:ext cx="743391" cy="625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2853" y="296524"/>
            <a:ext cx="2341886" cy="541924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1"/>
          <p:cNvSpPr txBox="1"/>
          <p:nvPr/>
        </p:nvSpPr>
        <p:spPr>
          <a:xfrm>
            <a:off x="402853" y="1142675"/>
            <a:ext cx="82665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pc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ru-RU" spc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ПОЛЕ</a:t>
            </a:r>
            <a:endParaRPr b="1" i="0" spc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"/>
          <p:cNvSpPr/>
          <p:nvPr/>
        </p:nvSpPr>
        <p:spPr>
          <a:xfrm>
            <a:off x="-8052085" y="-2359063"/>
            <a:ext cx="8707477" cy="1255963"/>
          </a:xfrm>
          <a:prstGeom prst="ellipse">
            <a:avLst/>
          </a:prstGeom>
          <a:solidFill>
            <a:srgbClr val="B61A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"/>
          <p:cNvSpPr txBox="1"/>
          <p:nvPr/>
        </p:nvSpPr>
        <p:spPr>
          <a:xfrm>
            <a:off x="6313902" y="3625556"/>
            <a:ext cx="218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3" name="Google Shape;523;p1"/>
          <p:cNvGrpSpPr/>
          <p:nvPr/>
        </p:nvGrpSpPr>
        <p:grpSpPr>
          <a:xfrm>
            <a:off x="303462" y="2533678"/>
            <a:ext cx="5631957" cy="709522"/>
            <a:chOff x="579120" y="2415540"/>
            <a:chExt cx="5273040" cy="709522"/>
          </a:xfrm>
        </p:grpSpPr>
        <p:sp>
          <p:nvSpPr>
            <p:cNvPr id="524" name="Google Shape;524;p1"/>
            <p:cNvSpPr/>
            <p:nvPr/>
          </p:nvSpPr>
          <p:spPr>
            <a:xfrm>
              <a:off x="579120" y="2415540"/>
              <a:ext cx="5273040" cy="709522"/>
            </a:xfrm>
            <a:prstGeom prst="roundRect">
              <a:avLst>
                <a:gd fmla="val 50000" name="adj"/>
              </a:avLst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"/>
            <p:cNvSpPr/>
            <p:nvPr/>
          </p:nvSpPr>
          <p:spPr>
            <a:xfrm>
              <a:off x="740146" y="2571750"/>
              <a:ext cx="4959614" cy="415290"/>
            </a:xfrm>
            <a:prstGeom prst="roundRect">
              <a:avLst>
                <a:gd fmla="val 50000" name="adj"/>
              </a:avLst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6" name="Google Shape;526;p1"/>
          <p:cNvSpPr txBox="1"/>
          <p:nvPr/>
        </p:nvSpPr>
        <p:spPr>
          <a:xfrm>
            <a:off x="459041" y="2608442"/>
            <a:ext cx="5510373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Мобильное приложение для изучения программирования</a:t>
            </a:r>
            <a:endParaRPr/>
          </a:p>
        </p:txBody>
      </p:sp>
      <p:sp>
        <p:nvSpPr>
          <p:cNvPr id="527" name="Google Shape;527;p1"/>
          <p:cNvSpPr txBox="1"/>
          <p:nvPr/>
        </p:nvSpPr>
        <p:spPr>
          <a:xfrm>
            <a:off x="563879" y="3407644"/>
            <a:ext cx="10265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Команда:</a:t>
            </a:r>
            <a:endParaRPr b="1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"/>
          <p:cNvSpPr txBox="1"/>
          <p:nvPr/>
        </p:nvSpPr>
        <p:spPr>
          <a:xfrm>
            <a:off x="6313902" y="3407644"/>
            <a:ext cx="13931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Наставник:</a:t>
            </a:r>
            <a:endParaRPr b="1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"/>
          <p:cNvSpPr/>
          <p:nvPr/>
        </p:nvSpPr>
        <p:spPr>
          <a:xfrm>
            <a:off x="459041" y="3317886"/>
            <a:ext cx="5320800" cy="1464900"/>
          </a:xfrm>
          <a:prstGeom prst="roundRect">
            <a:avLst>
              <a:gd fmla="val 16189" name="adj"/>
            </a:avLst>
          </a:prstGeom>
          <a:noFill/>
          <a:ln cap="flat" cmpd="sng" w="9525">
            <a:solidFill>
              <a:srgbClr val="F25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Чан Чунг Куанг.</a:t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Игнатов Николай Николаевич.</a:t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Гуркало Артемий Романович.</a:t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"/>
          <p:cNvSpPr/>
          <p:nvPr/>
        </p:nvSpPr>
        <p:spPr>
          <a:xfrm>
            <a:off x="6181489" y="3317886"/>
            <a:ext cx="2536800" cy="1464900"/>
          </a:xfrm>
          <a:prstGeom prst="roundRect">
            <a:avLst>
              <a:gd fmla="val 16189" name="adj"/>
            </a:avLst>
          </a:prstGeom>
          <a:noFill/>
          <a:ln cap="flat" cmpd="sng" w="9525">
            <a:solidFill>
              <a:srgbClr val="F25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Артем Витальевич Бенескул</a:t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1" name="Google Shape;531;p1"/>
          <p:cNvGrpSpPr/>
          <p:nvPr/>
        </p:nvGrpSpPr>
        <p:grpSpPr>
          <a:xfrm>
            <a:off x="6181489" y="2533678"/>
            <a:ext cx="2763522" cy="720131"/>
            <a:chOff x="579120" y="2415540"/>
            <a:chExt cx="5273040" cy="709522"/>
          </a:xfrm>
        </p:grpSpPr>
        <p:sp>
          <p:nvSpPr>
            <p:cNvPr id="532" name="Google Shape;532;p1"/>
            <p:cNvSpPr/>
            <p:nvPr/>
          </p:nvSpPr>
          <p:spPr>
            <a:xfrm>
              <a:off x="579120" y="2415540"/>
              <a:ext cx="5273040" cy="709522"/>
            </a:xfrm>
            <a:prstGeom prst="roundRect">
              <a:avLst>
                <a:gd fmla="val 50000" name="adj"/>
              </a:avLst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"/>
            <p:cNvSpPr/>
            <p:nvPr/>
          </p:nvSpPr>
          <p:spPr>
            <a:xfrm>
              <a:off x="740146" y="2571750"/>
              <a:ext cx="4959614" cy="415290"/>
            </a:xfrm>
            <a:prstGeom prst="roundRect">
              <a:avLst>
                <a:gd fmla="val 50000" name="adj"/>
              </a:avLst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4" name="Google Shape;534;p1"/>
          <p:cNvSpPr txBox="1"/>
          <p:nvPr/>
        </p:nvSpPr>
        <p:spPr>
          <a:xfrm>
            <a:off x="6265880" y="2608442"/>
            <a:ext cx="2910778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Номинация: Мобильная разработка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В яблочко со сплошной заливкой" id="540" name="Google Shape;54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7933" y="-242361"/>
            <a:ext cx="1409298" cy="1409298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2"/>
          <p:cNvSpPr/>
          <p:nvPr/>
        </p:nvSpPr>
        <p:spPr>
          <a:xfrm>
            <a:off x="403920" y="1290088"/>
            <a:ext cx="1331089" cy="38818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pc="0" sz="32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Цель и задачи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"/>
          <p:cNvSpPr/>
          <p:nvPr/>
        </p:nvSpPr>
        <p:spPr>
          <a:xfrm>
            <a:off x="1823092" y="2031050"/>
            <a:ext cx="357300" cy="522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-RU" spc="0" sz="2400" u="none" cap="none" strike="noStrike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"/>
          <p:cNvSpPr txBox="1"/>
          <p:nvPr/>
        </p:nvSpPr>
        <p:spPr>
          <a:xfrm>
            <a:off x="582532" y="1306538"/>
            <a:ext cx="858079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pc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ЦЕЛЬ</a:t>
            </a:r>
            <a:endParaRPr b="0" i="0" spc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"/>
          <p:cNvSpPr txBox="1"/>
          <p:nvPr/>
        </p:nvSpPr>
        <p:spPr>
          <a:xfrm>
            <a:off x="2187045" y="1325846"/>
            <a:ext cx="611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Создание мобильного приложения, которое знакомит подростков 12–17 лет с основами программирования через игровую ферму.</a:t>
            </a:r>
            <a:r>
              <a:rPr b="0" i="0" lang="ru-RU" spc="0" sz="1100" u="none" cap="none" strike="noStrike">
                <a:solidFill>
                  <a:srgbClr val="CDD4E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pc="0" sz="1400" u="none" cap="none" strike="noStrike">
              <a:solidFill>
                <a:srgbClr val="CDD4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"/>
          <p:cNvSpPr/>
          <p:nvPr/>
        </p:nvSpPr>
        <p:spPr>
          <a:xfrm>
            <a:off x="403920" y="2188285"/>
            <a:ext cx="1331089" cy="38818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"/>
          <p:cNvSpPr txBox="1"/>
          <p:nvPr/>
        </p:nvSpPr>
        <p:spPr>
          <a:xfrm>
            <a:off x="582532" y="2204735"/>
            <a:ext cx="1082366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pc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Задачи</a:t>
            </a:r>
            <a:endParaRPr b="0" i="0" spc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"/>
          <p:cNvSpPr txBox="1"/>
          <p:nvPr/>
        </p:nvSpPr>
        <p:spPr>
          <a:xfrm>
            <a:off x="2187045" y="2188285"/>
            <a:ext cx="6111900" cy="28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Разработать 3 урока по теме «алгоритмы и порядок действий».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Реализовать 3 формата практических заданий.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Добавить геймификацию: перерождение, звезды, награды.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Сделать приложение мобильным (PWA).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pc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"/>
          <p:cNvSpPr/>
          <p:nvPr/>
        </p:nvSpPr>
        <p:spPr>
          <a:xfrm>
            <a:off x="1823054" y="2649189"/>
            <a:ext cx="357225" cy="463944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-RU" spc="0" sz="2400" u="none" cap="none" strike="noStrike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"/>
          <p:cNvSpPr/>
          <p:nvPr/>
        </p:nvSpPr>
        <p:spPr>
          <a:xfrm>
            <a:off x="1823054" y="3209243"/>
            <a:ext cx="357300" cy="434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-RU" spc="0" sz="2400" u="none" cap="none" strike="noStrike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"/>
          <p:cNvSpPr/>
          <p:nvPr/>
        </p:nvSpPr>
        <p:spPr>
          <a:xfrm>
            <a:off x="1823042" y="3864574"/>
            <a:ext cx="357300" cy="434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-RU" spc="0" sz="2400" u="none" cap="none" strike="noStrike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cture background" id="552" name="Google Shape;55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082113" y="1616353"/>
            <a:ext cx="768634" cy="768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989253" y="2690879"/>
            <a:ext cx="605787" cy="605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554" name="Google Shape;55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989253" y="3776599"/>
            <a:ext cx="582663" cy="512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034334" y="1616352"/>
            <a:ext cx="654387" cy="654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556" name="Google Shape;556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034334" y="2745010"/>
            <a:ext cx="582663" cy="582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557" name="Google Shape;557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-978251" y="3828473"/>
            <a:ext cx="470495" cy="4704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8" name="Google Shape;558;p2"/>
          <p:cNvCxnSpPr/>
          <p:nvPr/>
        </p:nvCxnSpPr>
        <p:spPr>
          <a:xfrm flipH="1" rot="10800000">
            <a:off x="587829" y="859971"/>
            <a:ext cx="2775857" cy="1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Весы правосудия со сплошной заливкой" id="564" name="Google Shape;5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2914" y="-98925"/>
            <a:ext cx="1106953" cy="1106953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"/>
          <p:cNvSpPr/>
          <p:nvPr/>
        </p:nvSpPr>
        <p:spPr>
          <a:xfrm>
            <a:off x="292160" y="1126910"/>
            <a:ext cx="3395920" cy="38818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pc="0" sz="32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Анализ аналогов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"/>
          <p:cNvSpPr txBox="1"/>
          <p:nvPr/>
        </p:nvSpPr>
        <p:spPr>
          <a:xfrm>
            <a:off x="470773" y="1143360"/>
            <a:ext cx="3075067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pc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Существующие решения</a:t>
            </a:r>
            <a:endParaRPr b="0" i="0" spc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"/>
          <p:cNvSpPr/>
          <p:nvPr/>
        </p:nvSpPr>
        <p:spPr>
          <a:xfrm>
            <a:off x="4653280" y="1126910"/>
            <a:ext cx="1920240" cy="388189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rgbClr val="F25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"/>
          <p:cNvSpPr txBox="1"/>
          <p:nvPr/>
        </p:nvSpPr>
        <p:spPr>
          <a:xfrm>
            <a:off x="4831893" y="1143360"/>
            <a:ext cx="1660347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pc="0" sz="18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Недостатки</a:t>
            </a:r>
            <a:endParaRPr b="0" i="0" spc="0" sz="18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70" name="Google Shape;570;p3"/>
          <p:cNvGraphicFramePr/>
          <p:nvPr/>
        </p:nvGraphicFramePr>
        <p:xfrm>
          <a:off x="426059" y="16800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{F49541A1-EC09-42E9-8AD2-F4AEE8F2B24E}</a:tableStyleId>
              </a:tblPr>
              <a:tblGrid>
                <a:gridCol w="4135775"/>
                <a:gridCol w="4064000"/>
              </a:tblGrid>
              <a:tr h="463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pc="0" sz="1400" u="none" cap="none" strike="noStrike">
                          <a:solidFill>
                            <a:srgbClr val="0C056D"/>
                          </a:solidFill>
                        </a:rPr>
                        <a:t>Название аналогичного решения</a:t>
                      </a:r>
                      <a:endParaRPr spc="0" sz="1400" u="none" cap="none" strike="noStrike">
                        <a:solidFill>
                          <a:srgbClr val="0C056D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pc="0" sz="1400" u="none" cap="none" strike="noStrike">
                          <a:solidFill>
                            <a:srgbClr val="0C056D"/>
                          </a:solidFill>
                        </a:rPr>
                        <a:t>Краткое описание аналогичного решения практического применения современных цифровых компетенций в решении реальных технологических задач партнеров применения современных цифровых</a:t>
                      </a:r>
                      <a:endParaRPr spc="0"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Char char="●"/>
                      </a:pPr>
                      <a:r>
                        <a:rPr b="0" lang="ru-RU" spc="0" sz="1400" u="none" cap="none" strike="noStrike">
                          <a:solidFill>
                            <a:srgbClr val="0C056D"/>
                          </a:solidFill>
                        </a:rPr>
                        <a:t>Краткое описание аналогичного решения</a:t>
                      </a:r>
                      <a:endParaRPr spc="0"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Char char="●"/>
                      </a:pPr>
                      <a:r>
                        <a:rPr b="0" lang="ru-RU" spc="0" sz="1400" u="none" cap="none" strike="noStrike">
                          <a:solidFill>
                            <a:srgbClr val="0C056D"/>
                          </a:solidFill>
                        </a:rPr>
                        <a:t>Практического применения современных цифровых компетенций в решении</a:t>
                      </a:r>
                      <a:endParaRPr spc="0"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Char char="●"/>
                      </a:pPr>
                      <a:r>
                        <a:rPr b="0" lang="ru-RU" spc="0" sz="1400" u="none" cap="none" strike="noStrike">
                          <a:solidFill>
                            <a:srgbClr val="0C056D"/>
                          </a:solidFill>
                        </a:rPr>
                        <a:t>Реальных технологических задач партнеров применения современных</a:t>
                      </a:r>
                      <a:endParaRPr spc="0"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Char char="●"/>
                      </a:pPr>
                      <a:r>
                        <a:rPr b="0" lang="ru-RU" spc="0" sz="1400" u="none" cap="none" strike="noStrike">
                          <a:solidFill>
                            <a:srgbClr val="0C056D"/>
                          </a:solidFill>
                        </a:rPr>
                        <a:t>Цифровых компетенций в решении</a:t>
                      </a:r>
                      <a:endParaRPr spc="0"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pc="0" sz="1400" u="none" cap="none" strike="noStrike">
                        <a:solidFill>
                          <a:srgbClr val="0C056D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968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pc="0" sz="1400" u="none" cap="none" strike="noStrike">
                        <a:solidFill>
                          <a:srgbClr val="0C056D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1" name="Google Shape;571;p3"/>
          <p:cNvSpPr txBox="1"/>
          <p:nvPr/>
        </p:nvSpPr>
        <p:spPr>
          <a:xfrm>
            <a:off x="426050" y="3540700"/>
            <a:ext cx="1592100" cy="15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«Код будущего»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Code.org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Scratch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Duolingo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Kahoot!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"/>
          <p:cNvSpPr txBox="1"/>
          <p:nvPr/>
        </p:nvSpPr>
        <p:spPr>
          <a:xfrm>
            <a:off x="2579025" y="3540700"/>
            <a:ext cx="2899500" cy="15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Код будущего — долго (2 года), не мобильно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Code.org — веб, на английском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Scratch — веб, не под телефон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Duolingo — не учит программированию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• Kahoot! — только тесты 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pc="0" sz="2100" u="none" cap="none" strike="noStrike">
              <a:solidFill>
                <a:srgbClr val="0C05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"/>
          <p:cNvSpPr txBox="1"/>
          <p:nvPr/>
        </p:nvSpPr>
        <p:spPr>
          <a:xfrm>
            <a:off x="5813750" y="3498700"/>
            <a:ext cx="28602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Пример аналога </a:t>
            </a:r>
            <a:r>
              <a:rPr b="1" i="0" lang="ru-RU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Duolingo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Геймифицированное приложение для изучения языков.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Использует сердца, серии, достижения.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НО: не учит </a:t>
            </a:r>
            <a:r>
              <a:rPr b="0" i="0" lang="ru-RU" spc="0" sz="1000" u="none" cap="none" strike="noStrike">
                <a:solidFill>
                  <a:srgbClr val="F9FAFB"/>
                </a:solidFill>
                <a:latin typeface="Roboto Mono"/>
                <a:ea typeface="Roboto Mono"/>
                <a:cs typeface="Roboto Mono"/>
                <a:sym typeface="Roboto Mono"/>
              </a:rPr>
              <a:t>программированию.</a:t>
            </a:r>
            <a:endParaRPr b="0" i="0" spc="0" sz="1000" u="none" cap="none" strike="noStrike">
              <a:solidFill>
                <a:srgbClr val="F9FAF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pc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4" name="Google Shape;574;p3"/>
          <p:cNvCxnSpPr/>
          <p:nvPr/>
        </p:nvCxnSpPr>
        <p:spPr>
          <a:xfrm flipH="1" rot="10800000">
            <a:off x="587829" y="849086"/>
            <a:ext cx="3352800" cy="10886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"/>
          <p:cNvSpPr/>
          <p:nvPr/>
        </p:nvSpPr>
        <p:spPr>
          <a:xfrm>
            <a:off x="292160" y="1126910"/>
            <a:ext cx="1628080" cy="38818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pc="0" sz="32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Конкурентные преимущества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4"/>
          <p:cNvSpPr txBox="1"/>
          <p:nvPr/>
        </p:nvSpPr>
        <p:spPr>
          <a:xfrm>
            <a:off x="470773" y="1143360"/>
            <a:ext cx="1358027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pc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Аналоги</a:t>
            </a:r>
            <a:endParaRPr b="0" i="0" spc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"/>
          <p:cNvSpPr/>
          <p:nvPr/>
        </p:nvSpPr>
        <p:spPr>
          <a:xfrm>
            <a:off x="3202853" y="1126910"/>
            <a:ext cx="5470374" cy="388189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rgbClr val="F25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4"/>
          <p:cNvSpPr txBox="1"/>
          <p:nvPr/>
        </p:nvSpPr>
        <p:spPr>
          <a:xfrm>
            <a:off x="3381466" y="1143360"/>
            <a:ext cx="4737775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pc="0" sz="18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Преимущества нашего решения</a:t>
            </a:r>
            <a:endParaRPr b="0" i="0" spc="0" sz="18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5" name="Google Shape;585;p4"/>
          <p:cNvGraphicFramePr/>
          <p:nvPr/>
        </p:nvGraphicFramePr>
        <p:xfrm>
          <a:off x="426059" y="16800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{F49541A1-EC09-42E9-8AD2-F4AEE8F2B24E}</a:tableStyleId>
              </a:tblPr>
              <a:tblGrid>
                <a:gridCol w="2764175"/>
                <a:gridCol w="5435600"/>
              </a:tblGrid>
              <a:tr h="463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pc="0" sz="1400" u="none" cap="none" strike="noStrike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Код будущего — </a:t>
                      </a:r>
                      <a:r>
                        <a:rPr b="0" i="0" lang="ru-RU" spc="0" sz="1400" u="none" cap="none" strike="noStrike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курсы, 2 года, не мобильно.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pc="0" sz="1400" u="none" cap="none" strike="noStrike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Code.org — </a:t>
                      </a:r>
                      <a:r>
                        <a:rPr b="0" i="0" lang="ru-RU" spc="0" sz="1400" u="none" cap="none" strike="noStrike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веб, английский</a:t>
                      </a:r>
                      <a:r>
                        <a:rPr b="1" i="0" lang="ru-RU" spc="0" sz="1400" u="none" cap="none" strike="noStrike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pc="0" sz="1400" u="none" cap="none" strike="noStrike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Scratch — </a:t>
                      </a:r>
                      <a:r>
                        <a:rPr b="0" i="0" lang="ru-RU" spc="0" sz="1400" u="none" cap="none" strike="noStrike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веб.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pc="0" sz="1400" u="none" cap="none" strike="noStrike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Duolingo — </a:t>
                      </a:r>
                      <a:r>
                        <a:rPr b="0" i="0" lang="ru-RU" spc="0" sz="1400" u="none" cap="none" strike="noStrike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геймификация, но не программирование.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pc="0" sz="1400" u="none" cap="none" strike="noStrike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Kahoot! — </a:t>
                      </a:r>
                      <a:r>
                        <a:rPr b="0" i="0" lang="ru-RU" spc="0" sz="1400" u="none" cap="none" strike="noStrike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тесты, не программирование.</a:t>
                      </a:r>
                      <a:endParaRPr b="0" i="0" spc="0" sz="1400" u="none" cap="none" strike="noStrike">
                        <a:solidFill>
                          <a:schemeClr val="l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pc="0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Мобильность</a:t>
                      </a:r>
                      <a:r>
                        <a:rPr b="0" i="0" lang="ru-RU" spc="0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— работает в браузере телефона, не нужно скачивать.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pc="0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Короткий формат</a:t>
                      </a:r>
                      <a:r>
                        <a:rPr b="0" i="0" lang="ru-RU" spc="0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— урок 3–5 минут, быстрый результат.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pc="0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Геймификация, связанная с обучением</a:t>
                      </a:r>
                      <a:r>
                        <a:rPr b="0" i="0" lang="ru-RU" spc="0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— перерождение героя учит не бояться ошибок.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pc="0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Понятная метафора</a:t>
                      </a:r>
                      <a:r>
                        <a:rPr b="0" i="0" lang="ru-RU" spc="0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— ферма, знакомая ситуация.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pc="0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Три формата заданий</a:t>
                      </a:r>
                      <a:r>
                        <a:rPr b="0" i="0" lang="ru-RU" spc="0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— сборка, пропуск, исправление.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pc="0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Визуальная обратная связь</a:t>
                      </a:r>
                      <a:r>
                        <a:rPr b="0" i="0" lang="ru-RU" spc="0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— урожай растёт или вянет, результат виден сразу.</a:t>
                      </a:r>
                      <a:endParaRPr b="0" i="0" spc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pc="0" sz="1400" u="none" cap="none" strike="noStrike">
                          <a:solidFill>
                            <a:srgbClr val="1F3864"/>
                          </a:solidFill>
                        </a:rPr>
                        <a:t>Вывод:</a:t>
                      </a:r>
                      <a:endParaRPr b="1" spc="0" sz="1400" u="none" cap="none" strike="noStrike">
                        <a:solidFill>
                          <a:srgbClr val="1F3864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Char char="●"/>
                      </a:pPr>
                      <a:r>
                        <a:rPr b="0" i="0" lang="ru-RU" spc="0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«Поле» — единственное решение, которое совмещает </a:t>
                      </a:r>
                      <a:r>
                        <a:rPr b="1" i="0" lang="ru-RU" spc="0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мобильность, геймификацию и обучение программированию</a:t>
                      </a:r>
                      <a:endParaRPr spc="0"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86" name="Google Shape;586;p4"/>
          <p:cNvCxnSpPr/>
          <p:nvPr/>
        </p:nvCxnSpPr>
        <p:spPr>
          <a:xfrm flipH="1" rot="10800000">
            <a:off x="587829" y="827314"/>
            <a:ext cx="5900057" cy="32657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"/>
          <p:cNvSpPr/>
          <p:nvPr/>
        </p:nvSpPr>
        <p:spPr>
          <a:xfrm>
            <a:off x="2752913" y="692063"/>
            <a:ext cx="3878272" cy="1164773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pc="0" sz="36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Этапы работы</a:t>
            </a:r>
            <a:endParaRPr b="0" i="0" spc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3" name="Google Shape;593;p5"/>
          <p:cNvCxnSpPr/>
          <p:nvPr/>
        </p:nvCxnSpPr>
        <p:spPr>
          <a:xfrm>
            <a:off x="2906486" y="1524000"/>
            <a:ext cx="3281308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94" name="Google Shape;594;p5"/>
          <p:cNvSpPr txBox="1"/>
          <p:nvPr/>
        </p:nvSpPr>
        <p:spPr>
          <a:xfrm>
            <a:off x="766233" y="2673932"/>
            <a:ext cx="1685869" cy="32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Подготовка</a:t>
            </a:r>
            <a:endParaRPr b="0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5"/>
          <p:cNvSpPr txBox="1"/>
          <p:nvPr/>
        </p:nvSpPr>
        <p:spPr>
          <a:xfrm>
            <a:off x="2807661" y="2673932"/>
            <a:ext cx="1651778" cy="32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Регистрация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"/>
          <p:cNvSpPr txBox="1"/>
          <p:nvPr/>
        </p:nvSpPr>
        <p:spPr>
          <a:xfrm>
            <a:off x="4813257" y="2699607"/>
            <a:ext cx="1760934" cy="32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Соревнование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5"/>
          <p:cNvSpPr txBox="1"/>
          <p:nvPr/>
        </p:nvSpPr>
        <p:spPr>
          <a:xfrm>
            <a:off x="6673332" y="2673932"/>
            <a:ext cx="2804224" cy="32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Итоги и награждение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5"/>
          <p:cNvSpPr txBox="1"/>
          <p:nvPr/>
        </p:nvSpPr>
        <p:spPr>
          <a:xfrm>
            <a:off x="763771" y="2338868"/>
            <a:ext cx="1754350" cy="314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1 апр. – 23 авг.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5"/>
          <p:cNvSpPr txBox="1"/>
          <p:nvPr/>
        </p:nvSpPr>
        <p:spPr>
          <a:xfrm>
            <a:off x="2798645" y="2338868"/>
            <a:ext cx="1902549" cy="314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24 авг. – 20 сент.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5"/>
          <p:cNvSpPr txBox="1"/>
          <p:nvPr/>
        </p:nvSpPr>
        <p:spPr>
          <a:xfrm>
            <a:off x="4785919" y="2338868"/>
            <a:ext cx="2068395" cy="314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21 сент. – 11 окт.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5"/>
          <p:cNvSpPr txBox="1"/>
          <p:nvPr/>
        </p:nvSpPr>
        <p:spPr>
          <a:xfrm>
            <a:off x="6699787" y="2338868"/>
            <a:ext cx="2068395" cy="314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30 окт.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2" name="Google Shape;602;p5"/>
          <p:cNvGrpSpPr/>
          <p:nvPr/>
        </p:nvGrpSpPr>
        <p:grpSpPr>
          <a:xfrm>
            <a:off x="795867" y="2010296"/>
            <a:ext cx="321498" cy="328571"/>
            <a:chOff x="702815" y="3022267"/>
            <a:chExt cx="134948" cy="134948"/>
          </a:xfrm>
        </p:grpSpPr>
        <p:sp>
          <p:nvSpPr>
            <p:cNvPr id="603" name="Google Shape;603;p5"/>
            <p:cNvSpPr/>
            <p:nvPr/>
          </p:nvSpPr>
          <p:spPr>
            <a:xfrm>
              <a:off x="702815" y="3022267"/>
              <a:ext cx="134948" cy="134948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5"/>
            <p:cNvSpPr/>
            <p:nvPr/>
          </p:nvSpPr>
          <p:spPr>
            <a:xfrm>
              <a:off x="732193" y="3046163"/>
              <a:ext cx="81674" cy="81674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5" name="Google Shape;605;p5"/>
          <p:cNvGrpSpPr/>
          <p:nvPr/>
        </p:nvGrpSpPr>
        <p:grpSpPr>
          <a:xfrm>
            <a:off x="2801530" y="2010296"/>
            <a:ext cx="321498" cy="328571"/>
            <a:chOff x="702815" y="3022267"/>
            <a:chExt cx="134948" cy="134948"/>
          </a:xfrm>
        </p:grpSpPr>
        <p:sp>
          <p:nvSpPr>
            <p:cNvPr id="606" name="Google Shape;606;p5"/>
            <p:cNvSpPr/>
            <p:nvPr/>
          </p:nvSpPr>
          <p:spPr>
            <a:xfrm>
              <a:off x="702815" y="3022267"/>
              <a:ext cx="134948" cy="134948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5"/>
            <p:cNvSpPr/>
            <p:nvPr/>
          </p:nvSpPr>
          <p:spPr>
            <a:xfrm>
              <a:off x="732193" y="3046163"/>
              <a:ext cx="81674" cy="81674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8" name="Google Shape;608;p5"/>
          <p:cNvGrpSpPr/>
          <p:nvPr/>
        </p:nvGrpSpPr>
        <p:grpSpPr>
          <a:xfrm>
            <a:off x="4799175" y="2010296"/>
            <a:ext cx="321498" cy="328571"/>
            <a:chOff x="702815" y="3022267"/>
            <a:chExt cx="134948" cy="134948"/>
          </a:xfrm>
        </p:grpSpPr>
        <p:sp>
          <p:nvSpPr>
            <p:cNvPr id="609" name="Google Shape;609;p5"/>
            <p:cNvSpPr/>
            <p:nvPr/>
          </p:nvSpPr>
          <p:spPr>
            <a:xfrm>
              <a:off x="702815" y="3022267"/>
              <a:ext cx="134948" cy="134948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5"/>
            <p:cNvSpPr/>
            <p:nvPr/>
          </p:nvSpPr>
          <p:spPr>
            <a:xfrm>
              <a:off x="732193" y="3046163"/>
              <a:ext cx="81674" cy="81674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1" name="Google Shape;611;p5"/>
          <p:cNvGrpSpPr/>
          <p:nvPr/>
        </p:nvGrpSpPr>
        <p:grpSpPr>
          <a:xfrm>
            <a:off x="6679802" y="2010296"/>
            <a:ext cx="321498" cy="328571"/>
            <a:chOff x="702815" y="3022267"/>
            <a:chExt cx="134948" cy="134948"/>
          </a:xfrm>
        </p:grpSpPr>
        <p:sp>
          <p:nvSpPr>
            <p:cNvPr id="612" name="Google Shape;612;p5"/>
            <p:cNvSpPr/>
            <p:nvPr/>
          </p:nvSpPr>
          <p:spPr>
            <a:xfrm>
              <a:off x="702815" y="3022267"/>
              <a:ext cx="134948" cy="134948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5"/>
            <p:cNvSpPr/>
            <p:nvPr/>
          </p:nvSpPr>
          <p:spPr>
            <a:xfrm>
              <a:off x="732193" y="3046163"/>
              <a:ext cx="81674" cy="81674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4" name="Google Shape;614;p5"/>
          <p:cNvCxnSpPr/>
          <p:nvPr/>
        </p:nvCxnSpPr>
        <p:spPr>
          <a:xfrm>
            <a:off x="87086" y="1856836"/>
            <a:ext cx="9056914" cy="0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15" name="Google Shape;6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40285" y="2960501"/>
            <a:ext cx="4223713" cy="223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2971" y="2780475"/>
            <a:ext cx="3418116" cy="2597067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5"/>
          <p:cNvSpPr/>
          <p:nvPr/>
        </p:nvSpPr>
        <p:spPr>
          <a:xfrm>
            <a:off x="3475984" y="3737174"/>
            <a:ext cx="1974018" cy="435429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"/>
          <p:cNvSpPr/>
          <p:nvPr/>
        </p:nvSpPr>
        <p:spPr>
          <a:xfrm>
            <a:off x="67095" y="4398418"/>
            <a:ext cx="9196648" cy="80765"/>
          </a:xfrm>
          <a:prstGeom prst="roundRect">
            <a:avLst>
              <a:gd fmla="val 50000" name="adj"/>
            </a:avLst>
          </a:prstGeom>
          <a:solidFill>
            <a:srgbClr val="B3C6E7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6"/>
          <p:cNvSpPr/>
          <p:nvPr/>
        </p:nvSpPr>
        <p:spPr>
          <a:xfrm>
            <a:off x="352553" y="1442069"/>
            <a:ext cx="5556762" cy="38818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6"/>
          <p:cNvSpPr/>
          <p:nvPr/>
        </p:nvSpPr>
        <p:spPr>
          <a:xfrm>
            <a:off x="426059" y="584581"/>
            <a:ext cx="6462244" cy="793976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pc="0" sz="32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Задачи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6"/>
          <p:cNvSpPr txBox="1"/>
          <p:nvPr/>
        </p:nvSpPr>
        <p:spPr>
          <a:xfrm>
            <a:off x="426059" y="1457149"/>
            <a:ext cx="2910693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pc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Распределение задач</a:t>
            </a:r>
            <a:endParaRPr b="0" i="0" spc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6"/>
          <p:cNvSpPr/>
          <p:nvPr/>
        </p:nvSpPr>
        <p:spPr>
          <a:xfrm>
            <a:off x="379112" y="1957282"/>
            <a:ext cx="1190530" cy="346219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rgbClr val="F25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6"/>
          <p:cNvSpPr txBox="1"/>
          <p:nvPr/>
        </p:nvSpPr>
        <p:spPr>
          <a:xfrm>
            <a:off x="564726" y="1995670"/>
            <a:ext cx="1190534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Задача</a:t>
            </a:r>
            <a:endParaRPr b="0" i="0" spc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6"/>
          <p:cNvSpPr/>
          <p:nvPr/>
        </p:nvSpPr>
        <p:spPr>
          <a:xfrm>
            <a:off x="2850655" y="1957282"/>
            <a:ext cx="1805594" cy="346219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rgbClr val="F25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6"/>
          <p:cNvSpPr txBox="1"/>
          <p:nvPr/>
        </p:nvSpPr>
        <p:spPr>
          <a:xfrm>
            <a:off x="2961200" y="1995670"/>
            <a:ext cx="2221868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Ответственный</a:t>
            </a:r>
            <a:endParaRPr b="0" i="0" spc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6"/>
          <p:cNvSpPr/>
          <p:nvPr/>
        </p:nvSpPr>
        <p:spPr>
          <a:xfrm>
            <a:off x="5111684" y="1970149"/>
            <a:ext cx="1069582" cy="346219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rgbClr val="F25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6"/>
          <p:cNvSpPr txBox="1"/>
          <p:nvPr/>
        </p:nvSpPr>
        <p:spPr>
          <a:xfrm>
            <a:off x="5336474" y="1995670"/>
            <a:ext cx="890968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Срок</a:t>
            </a:r>
            <a:endParaRPr b="0" i="0" spc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3" name="Google Shape;633;p6"/>
          <p:cNvGraphicFramePr/>
          <p:nvPr/>
        </p:nvGraphicFramePr>
        <p:xfrm>
          <a:off x="352553" y="24729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{F49541A1-EC09-42E9-8AD2-F4AEE8F2B24E}</a:tableStyleId>
              </a:tblPr>
              <a:tblGrid>
                <a:gridCol w="2609250"/>
                <a:gridCol w="1860325"/>
                <a:gridCol w="1694800"/>
              </a:tblGrid>
              <a:tr h="34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ru-RU" spc="0" sz="1400" u="none" cap="none" strike="noStrike">
                          <a:solidFill>
                            <a:schemeClr val="lt1"/>
                          </a:solidFill>
                        </a:rPr>
                        <a:t>Идея</a:t>
                      </a:r>
                      <a:r>
                        <a:rPr b="1" i="0" lang="ru-RU" spc="0" sz="1400" u="none" cap="none" strike="noStrike">
                          <a:solidFill>
                            <a:srgbClr val="0C056D"/>
                          </a:solidFill>
                        </a:rPr>
                        <a:t> </a:t>
                      </a:r>
                      <a:r>
                        <a:rPr b="1" i="0" lang="ru-RU" spc="0" sz="1400" u="none" cap="none" strike="noStrike">
                          <a:solidFill>
                            <a:schemeClr val="lt1"/>
                          </a:solidFill>
                        </a:rPr>
                        <a:t>и сценарий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pc="0" sz="1400" u="none" cap="none" strike="noStrike">
                          <a:solidFill>
                            <a:srgbClr val="B3C6E7"/>
                          </a:solidFill>
                        </a:rPr>
                        <a:t>Чан</a:t>
                      </a:r>
                      <a:r>
                        <a:rPr b="1" lang="ru-RU" spc="0" sz="1400" u="none" cap="none" strike="noStrike">
                          <a:solidFill>
                            <a:srgbClr val="B3C6E7"/>
                          </a:solidFill>
                        </a:rPr>
                        <a:t> Чунг Куанг</a:t>
                      </a:r>
                      <a:endParaRPr b="1" spc="0" sz="1400" u="none" cap="none" strike="noStrike">
                        <a:solidFill>
                          <a:srgbClr val="B3C6E7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pc="0" sz="1400" u="none" cap="none" strike="noStrike">
                          <a:solidFill>
                            <a:srgbClr val="0C056D"/>
                          </a:solidFill>
                        </a:rPr>
                        <a:t>1 апр. – 23 авг.</a:t>
                      </a:r>
                      <a:endParaRPr spc="0"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pc="0" sz="1400" u="none" cap="none" strike="noStrike">
                          <a:solidFill>
                            <a:srgbClr val="0C056D"/>
                          </a:solidFill>
                        </a:rPr>
                        <a:t>Разработка кода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pc="0" sz="1400" u="none" cap="none" strike="noStrike">
                          <a:solidFill>
                            <a:srgbClr val="2F5496"/>
                          </a:solidFill>
                        </a:rPr>
                        <a:t>Гуркало</a:t>
                      </a:r>
                      <a:r>
                        <a:rPr b="1" lang="ru-RU" spc="0" sz="1400" u="none" cap="none" strike="noStrike">
                          <a:solidFill>
                            <a:srgbClr val="2F5496"/>
                          </a:solidFill>
                        </a:rPr>
                        <a:t> Артемий Романович</a:t>
                      </a:r>
                      <a:endParaRPr b="1" spc="0" sz="1400" u="none" cap="none" strike="noStrike">
                        <a:solidFill>
                          <a:srgbClr val="2F5496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pc="0" sz="1400" u="none" cap="none" strike="noStrike">
                          <a:solidFill>
                            <a:srgbClr val="0C056D"/>
                          </a:solidFill>
                        </a:rPr>
                        <a:t>24 авг. – 20 сент.</a:t>
                      </a:r>
                      <a:endParaRPr spc="0"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pc="0" sz="1400" u="none" cap="none" strike="noStrike">
                          <a:solidFill>
                            <a:srgbClr val="0C056D"/>
                          </a:solidFill>
                        </a:rPr>
                        <a:t>Презентация и видео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pc="0" sz="1400" u="none" cap="none" strike="noStrike">
                          <a:solidFill>
                            <a:srgbClr val="1F3864"/>
                          </a:solidFill>
                        </a:rPr>
                        <a:t>Игнатов Николай Николаевич</a:t>
                      </a:r>
                      <a:endParaRPr b="1" spc="0" sz="1400" u="none" cap="none" strike="noStrike">
                        <a:solidFill>
                          <a:srgbClr val="1F3864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pc="0" sz="1400" u="none" cap="none" strike="noStrike">
                          <a:solidFill>
                            <a:srgbClr val="0C056D"/>
                          </a:solidFill>
                        </a:rPr>
                        <a:t>21 сент. – 11 окт.</a:t>
                      </a:r>
                      <a:endParaRPr spc="0"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pc="0" sz="1400" u="none" cap="none" strike="noStrike">
                          <a:solidFill>
                            <a:srgbClr val="0C056D"/>
                          </a:solidFill>
                        </a:rPr>
                        <a:t>Итоги и награждение</a:t>
                      </a:r>
                      <a:endParaRPr spc="0"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pc="0" sz="1400" u="none" cap="none" strike="noStrike">
                          <a:solidFill>
                            <a:srgbClr val="0C056D"/>
                          </a:solidFill>
                        </a:rPr>
                        <a:t>Фамилия Имя</a:t>
                      </a:r>
                      <a:endParaRPr spc="0"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pc="0" sz="1400" u="none" cap="none" strike="noStrike">
                          <a:solidFill>
                            <a:srgbClr val="0C056D"/>
                          </a:solidFill>
                        </a:rPr>
                        <a:t>30 окт.</a:t>
                      </a:r>
                      <a:endParaRPr spc="0"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34" name="Google Shape;634;p6"/>
          <p:cNvCxnSpPr/>
          <p:nvPr/>
        </p:nvCxnSpPr>
        <p:spPr>
          <a:xfrm flipH="1" rot="10800000">
            <a:off x="426059" y="1208729"/>
            <a:ext cx="1533370" cy="10886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35" name="Google Shape;635;p6"/>
          <p:cNvCxnSpPr/>
          <p:nvPr/>
        </p:nvCxnSpPr>
        <p:spPr>
          <a:xfrm flipH="1" rot="10800000">
            <a:off x="0" y="1328057"/>
            <a:ext cx="9144000" cy="10886"/>
          </a:xfrm>
          <a:prstGeom prst="straightConnector1">
            <a:avLst/>
          </a:prstGeom>
          <a:noFill/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36" name="Google Shape;6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9698" y="1328057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pc="0" sz="32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Фотографии прототипа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7"/>
          <p:cNvSpPr txBox="1"/>
          <p:nvPr/>
        </p:nvSpPr>
        <p:spPr>
          <a:xfrm>
            <a:off x="540359" y="2390827"/>
            <a:ext cx="218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C056D"/>
                </a:solidFill>
              </a:rPr>
              <a:t>Меню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7"/>
          <p:cNvSpPr txBox="1"/>
          <p:nvPr/>
        </p:nvSpPr>
        <p:spPr>
          <a:xfrm>
            <a:off x="2980293" y="2390827"/>
            <a:ext cx="21825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C056D"/>
                </a:solidFill>
              </a:rPr>
              <a:t>Настройки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7"/>
          <p:cNvSpPr txBox="1"/>
          <p:nvPr/>
        </p:nvSpPr>
        <p:spPr>
          <a:xfrm>
            <a:off x="540359" y="4366650"/>
            <a:ext cx="21825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C056D"/>
                </a:solidFill>
              </a:rPr>
              <a:t>Вступление к уроку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7"/>
          <p:cNvSpPr txBox="1"/>
          <p:nvPr/>
        </p:nvSpPr>
        <p:spPr>
          <a:xfrm>
            <a:off x="2980293" y="4366650"/>
            <a:ext cx="218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C056D"/>
                </a:solidFill>
              </a:rPr>
              <a:t>Система жизней, валюта</a:t>
            </a:r>
            <a:endParaRPr sz="1200">
              <a:solidFill>
                <a:srgbClr val="0C056D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0C056D"/>
              </a:solidFill>
            </a:endParaRPr>
          </a:p>
        </p:txBody>
      </p:sp>
      <p:sp>
        <p:nvSpPr>
          <p:cNvPr id="647" name="Google Shape;647;p7"/>
          <p:cNvSpPr/>
          <p:nvPr/>
        </p:nvSpPr>
        <p:spPr>
          <a:xfrm>
            <a:off x="5489813" y="1107440"/>
            <a:ext cx="3183300" cy="3259200"/>
          </a:xfrm>
          <a:prstGeom prst="roundRect">
            <a:avLst>
              <a:gd fmla="val 836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7"/>
          <p:cNvSpPr/>
          <p:nvPr/>
        </p:nvSpPr>
        <p:spPr>
          <a:xfrm>
            <a:off x="505561" y="1107440"/>
            <a:ext cx="2252100" cy="1318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7"/>
          <p:cNvSpPr/>
          <p:nvPr/>
        </p:nvSpPr>
        <p:spPr>
          <a:xfrm>
            <a:off x="2980293" y="1107440"/>
            <a:ext cx="2252100" cy="1318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7"/>
          <p:cNvSpPr/>
          <p:nvPr/>
        </p:nvSpPr>
        <p:spPr>
          <a:xfrm>
            <a:off x="470773" y="2933192"/>
            <a:ext cx="2252100" cy="1318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7"/>
          <p:cNvSpPr/>
          <p:nvPr/>
        </p:nvSpPr>
        <p:spPr>
          <a:xfrm>
            <a:off x="2980293" y="2933192"/>
            <a:ext cx="2252100" cy="1318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7"/>
          <p:cNvSpPr txBox="1"/>
          <p:nvPr/>
        </p:nvSpPr>
        <p:spPr>
          <a:xfrm>
            <a:off x="5489813" y="4366650"/>
            <a:ext cx="218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>
                <a:solidFill>
                  <a:srgbClr val="0C056D"/>
                </a:solidFill>
              </a:rPr>
              <a:t>Урок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3" name="Google Shape;653;p7"/>
          <p:cNvCxnSpPr/>
          <p:nvPr/>
        </p:nvCxnSpPr>
        <p:spPr>
          <a:xfrm flipH="1" rot="10800000">
            <a:off x="547807" y="827314"/>
            <a:ext cx="4684593" cy="10887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id="654" name="Google Shape;65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75" y="1192700"/>
            <a:ext cx="2027125" cy="113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1275" y="1192700"/>
            <a:ext cx="2027125" cy="113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275" y="3062450"/>
            <a:ext cx="2027126" cy="11330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pic>
        <p:nvPicPr>
          <p:cNvPr id="657" name="Google Shape;657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4650" y="1200325"/>
            <a:ext cx="2982875" cy="305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31450" y="3072600"/>
            <a:ext cx="2087675" cy="10720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pc="0" sz="32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Команда и роли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8"/>
          <p:cNvSpPr txBox="1"/>
          <p:nvPr/>
        </p:nvSpPr>
        <p:spPr>
          <a:xfrm>
            <a:off x="540359" y="1963222"/>
            <a:ext cx="1798981" cy="793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ru-RU">
                <a:solidFill>
                  <a:srgbClr val="0C056D"/>
                </a:solidFill>
              </a:rPr>
              <a:t>Игнатов Николай Николаевич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ru-RU">
                <a:solidFill>
                  <a:srgbClr val="0C056D"/>
                </a:solidFill>
              </a:rPr>
              <a:t>Дизайнер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solidFill>
                  <a:srgbClr val="0C056D"/>
                </a:solidFill>
              </a:rPr>
              <a:t>Презентация и видео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8"/>
          <p:cNvSpPr/>
          <p:nvPr/>
        </p:nvSpPr>
        <p:spPr>
          <a:xfrm>
            <a:off x="470774" y="1094611"/>
            <a:ext cx="916066" cy="815418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8"/>
          <p:cNvSpPr txBox="1"/>
          <p:nvPr/>
        </p:nvSpPr>
        <p:spPr>
          <a:xfrm>
            <a:off x="2744206" y="1963222"/>
            <a:ext cx="1798981" cy="793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ru-RU">
                <a:solidFill>
                  <a:srgbClr val="0C056D"/>
                </a:solidFill>
              </a:rPr>
              <a:t>Чан Чунг </a:t>
            </a:r>
            <a:r>
              <a:rPr b="1" lang="ru-RU">
                <a:solidFill>
                  <a:srgbClr val="0C056D"/>
                </a:solidFill>
              </a:rPr>
              <a:t>Куанг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ru-RU">
                <a:solidFill>
                  <a:srgbClr val="0C056D"/>
                </a:solidFill>
              </a:rPr>
              <a:t>Сценарист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>
                <a:solidFill>
                  <a:srgbClr val="0C056D"/>
                </a:solidFill>
              </a:rPr>
              <a:t>Идея и сценарий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8"/>
          <p:cNvSpPr/>
          <p:nvPr/>
        </p:nvSpPr>
        <p:spPr>
          <a:xfrm>
            <a:off x="2674621" y="1094611"/>
            <a:ext cx="916200" cy="815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8"/>
          <p:cNvSpPr txBox="1"/>
          <p:nvPr/>
        </p:nvSpPr>
        <p:spPr>
          <a:xfrm>
            <a:off x="4883759" y="1963222"/>
            <a:ext cx="1798981" cy="793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ru-RU">
                <a:solidFill>
                  <a:srgbClr val="0C056D"/>
                </a:solidFill>
              </a:rPr>
              <a:t>Гуркало Артемий Романович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ru-RU">
                <a:solidFill>
                  <a:srgbClr val="0C056D"/>
                </a:solidFill>
              </a:rPr>
              <a:t>Программист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>
                <a:solidFill>
                  <a:srgbClr val="0C056D"/>
                </a:solidFill>
              </a:rPr>
              <a:t>Разработка кода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8"/>
          <p:cNvSpPr/>
          <p:nvPr/>
        </p:nvSpPr>
        <p:spPr>
          <a:xfrm>
            <a:off x="4814174" y="1094611"/>
            <a:ext cx="916200" cy="815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8"/>
          <p:cNvSpPr txBox="1"/>
          <p:nvPr/>
        </p:nvSpPr>
        <p:spPr>
          <a:xfrm>
            <a:off x="7092906" y="2052673"/>
            <a:ext cx="17991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ru-RU">
                <a:solidFill>
                  <a:srgbClr val="0C056D"/>
                </a:solidFill>
              </a:rPr>
              <a:t>Артём Витальевич Бенескул</a:t>
            </a:r>
            <a:r>
              <a:rPr b="1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pc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ru-RU">
                <a:solidFill>
                  <a:srgbClr val="0C056D"/>
                </a:solidFill>
              </a:rPr>
              <a:t>Наставник</a:t>
            </a:r>
            <a:endParaRPr b="1">
              <a:solidFill>
                <a:srgbClr val="0C056D"/>
              </a:solidFill>
            </a:endParaRPr>
          </a:p>
        </p:txBody>
      </p:sp>
      <p:sp>
        <p:nvSpPr>
          <p:cNvPr id="672" name="Google Shape;672;p8"/>
          <p:cNvSpPr/>
          <p:nvPr/>
        </p:nvSpPr>
        <p:spPr>
          <a:xfrm>
            <a:off x="7023321" y="1184062"/>
            <a:ext cx="916200" cy="815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8"/>
          <p:cNvSpPr/>
          <p:nvPr/>
        </p:nvSpPr>
        <p:spPr>
          <a:xfrm>
            <a:off x="7736928" y="1761402"/>
            <a:ext cx="984000" cy="296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8"/>
          <p:cNvSpPr txBox="1"/>
          <p:nvPr/>
        </p:nvSpPr>
        <p:spPr>
          <a:xfrm>
            <a:off x="7791402" y="1761439"/>
            <a:ext cx="9840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pc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наставник</a:t>
            </a:r>
            <a:endParaRPr b="0" i="0" spc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5" name="Google Shape;675;p8"/>
          <p:cNvCxnSpPr/>
          <p:nvPr/>
        </p:nvCxnSpPr>
        <p:spPr>
          <a:xfrm flipH="1" rot="10800000">
            <a:off x="547807" y="838200"/>
            <a:ext cx="3164222" cy="1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9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pc="0" sz="32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РАЗВИТИЕ СИСТЕМЫ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9"/>
          <p:cNvSpPr/>
          <p:nvPr/>
        </p:nvSpPr>
        <p:spPr>
          <a:xfrm>
            <a:off x="426059" y="1008028"/>
            <a:ext cx="3062180" cy="3140788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Формирование образовательной среды для юных программистов.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Обеспечение перехода от школьных знаний к реальным проектам.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Игровой формат снижает порог входа в программирование.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Отри урока – первый шаг к алгоритмическому мышлению.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0" i="0" lang="ru-RU" spc="0" sz="1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В перспективе – новые темы: циклы, условия, переменные; ИИ-чат-бот для помощи.</a:t>
            </a:r>
            <a:endParaRPr b="0" i="0" spc="0" sz="14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9"/>
          <p:cNvSpPr/>
          <p:nvPr/>
        </p:nvSpPr>
        <p:spPr>
          <a:xfrm>
            <a:off x="3829115" y="1255952"/>
            <a:ext cx="4905401" cy="3224608"/>
          </a:xfrm>
          <a:prstGeom prst="roundRect">
            <a:avLst>
              <a:gd fmla="val 584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9"/>
          <p:cNvSpPr/>
          <p:nvPr/>
        </p:nvSpPr>
        <p:spPr>
          <a:xfrm>
            <a:off x="3981516" y="1408353"/>
            <a:ext cx="4966541" cy="844990"/>
          </a:xfrm>
          <a:prstGeom prst="roundRect">
            <a:avLst>
              <a:gd fmla="val 5840" name="adj"/>
            </a:avLst>
          </a:prstGeom>
          <a:solidFill>
            <a:srgbClr val="D4DB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9"/>
          <p:cNvSpPr/>
          <p:nvPr/>
        </p:nvSpPr>
        <p:spPr>
          <a:xfrm>
            <a:off x="3981516" y="2758182"/>
            <a:ext cx="4966541" cy="844990"/>
          </a:xfrm>
          <a:prstGeom prst="roundRect">
            <a:avLst>
              <a:gd fmla="val 5840" name="adj"/>
            </a:avLst>
          </a:prstGeom>
          <a:solidFill>
            <a:srgbClr val="D4DB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9"/>
          <p:cNvSpPr/>
          <p:nvPr/>
        </p:nvSpPr>
        <p:spPr>
          <a:xfrm>
            <a:off x="3981515" y="4058065"/>
            <a:ext cx="4966541" cy="844990"/>
          </a:xfrm>
          <a:prstGeom prst="roundRect">
            <a:avLst>
              <a:gd fmla="val 5840" name="adj"/>
            </a:avLst>
          </a:prstGeom>
          <a:solidFill>
            <a:srgbClr val="D4DB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9"/>
          <p:cNvSpPr/>
          <p:nvPr/>
        </p:nvSpPr>
        <p:spPr>
          <a:xfrm rot="5400000">
            <a:off x="6245469" y="2378849"/>
            <a:ext cx="438630" cy="287511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9"/>
          <p:cNvSpPr/>
          <p:nvPr/>
        </p:nvSpPr>
        <p:spPr>
          <a:xfrm rot="5400000">
            <a:off x="6252937" y="3694995"/>
            <a:ext cx="438630" cy="287511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9"/>
          <p:cNvSpPr/>
          <p:nvPr/>
        </p:nvSpPr>
        <p:spPr>
          <a:xfrm>
            <a:off x="4974771" y="1590397"/>
            <a:ext cx="3621649" cy="480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pc="0" sz="24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Школьные знания</a:t>
            </a:r>
            <a:endParaRPr b="0" i="0" spc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9"/>
          <p:cNvSpPr/>
          <p:nvPr/>
        </p:nvSpPr>
        <p:spPr>
          <a:xfrm>
            <a:off x="5050909" y="2940226"/>
            <a:ext cx="3621649" cy="480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pc="0" sz="24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Игровая практика</a:t>
            </a:r>
            <a:endParaRPr b="0" i="0" spc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9"/>
          <p:cNvSpPr/>
          <p:nvPr/>
        </p:nvSpPr>
        <p:spPr>
          <a:xfrm>
            <a:off x="5050909" y="4240109"/>
            <a:ext cx="3621649" cy="480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pc="0" sz="24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Реальные проекты</a:t>
            </a:r>
            <a:endParaRPr b="0" i="0" spc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1" name="Google Shape;691;p9"/>
          <p:cNvCxnSpPr/>
          <p:nvPr/>
        </p:nvCxnSpPr>
        <p:spPr>
          <a:xfrm flipH="1" rot="10800000">
            <a:off x="547807" y="816429"/>
            <a:ext cx="4350764" cy="21771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92" name="Google Shape;692;p9"/>
          <p:cNvSpPr/>
          <p:nvPr/>
        </p:nvSpPr>
        <p:spPr>
          <a:xfrm>
            <a:off x="67095" y="4398418"/>
            <a:ext cx="3700062" cy="82142"/>
          </a:xfrm>
          <a:prstGeom prst="roundRect">
            <a:avLst>
              <a:gd fmla="val 50000" name="adj"/>
            </a:avLst>
          </a:prstGeom>
          <a:solidFill>
            <a:srgbClr val="B3C6E7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0"/>
          <p:cNvSpPr/>
          <p:nvPr/>
        </p:nvSpPr>
        <p:spPr>
          <a:xfrm>
            <a:off x="163286" y="55109"/>
            <a:ext cx="7904875" cy="793976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pc="0" sz="28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Сравнение решений по 4 параметрам</a:t>
            </a:r>
            <a:endParaRPr b="1" i="0" spc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0"/>
          <p:cNvSpPr/>
          <p:nvPr/>
        </p:nvSpPr>
        <p:spPr>
          <a:xfrm>
            <a:off x="5751884" y="849086"/>
            <a:ext cx="3062180" cy="3140788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Развитие системы </a:t>
            </a:r>
            <a:endParaRPr b="1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"Поле” лидирует по мобильности, геймификации и доступности.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Единственное решение, совмещающее все три параметра одновременно.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Код будущего выигрывает только по глубине обучения – но проигрывает в мобильности и скорости.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Duolingoo – эталон геймификации, но не учит программированию.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Вывод: Поле занимает уникальную нишу – мобильное геймифицированное обучающее программированию.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9" name="Google Shape;6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821" y="899294"/>
            <a:ext cx="5026429" cy="32641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0" name="Google Shape;700;p10"/>
          <p:cNvCxnSpPr/>
          <p:nvPr/>
        </p:nvCxnSpPr>
        <p:spPr>
          <a:xfrm>
            <a:off x="340821" y="664029"/>
            <a:ext cx="6585857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01" name="Google Shape;701;p10"/>
          <p:cNvSpPr/>
          <p:nvPr/>
        </p:nvSpPr>
        <p:spPr>
          <a:xfrm>
            <a:off x="340821" y="4163426"/>
            <a:ext cx="4572000" cy="1184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Ряд 1 – </a:t>
            </a:r>
            <a:r>
              <a:rPr b="1" i="0" lang="ru-RU" spc="0" sz="1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Код будущего (тёмно-фиолетовый)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0" i="0" lang="ru-RU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Ряд 2 – </a:t>
            </a:r>
            <a:r>
              <a:rPr b="1" i="0" lang="ru-RU" spc="0" sz="1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Duolingo (розовый)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0" i="0" lang="ru-RU" spc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Ряд 3 – </a:t>
            </a:r>
            <a:r>
              <a:rPr b="1" i="0" lang="ru-RU" spc="0" sz="1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“Поле” (сиреневый)</a:t>
            </a:r>
            <a:endParaRPr/>
          </a:p>
          <a:p>
            <a:pPr indent="-825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1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pc="0" sz="32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РАЗВИТИЕ СИСТЕМЫ</a:t>
            </a:r>
            <a:endParaRPr/>
          </a:p>
        </p:txBody>
      </p:sp>
      <p:sp>
        <p:nvSpPr>
          <p:cNvPr id="707" name="Google Shape;707;p11"/>
          <p:cNvSpPr/>
          <p:nvPr/>
        </p:nvSpPr>
        <p:spPr>
          <a:xfrm>
            <a:off x="235530" y="918495"/>
            <a:ext cx="4975318" cy="3140788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600"/>
              <a:buFont typeface="Arial"/>
              <a:buChar char="●"/>
            </a:pPr>
            <a:r>
              <a:rPr b="0" i="0" lang="ru-RU" spc="0" sz="16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Формирование образовательной экосистемы для школьников.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600"/>
              <a:buFont typeface="Arial"/>
              <a:buChar char="●"/>
            </a:pPr>
            <a:r>
              <a:rPr b="0" i="0" lang="ru-RU" spc="0" sz="16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Преемственность от школьных знаний к реальным проектам.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600"/>
              <a:buFont typeface="Arial"/>
              <a:buChar char="●"/>
            </a:pPr>
            <a:r>
              <a:rPr b="0" i="0" lang="ru-RU" spc="0" sz="16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Интеграция игровых механик в обучение программированию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600"/>
              <a:buFont typeface="Arial"/>
              <a:buChar char="●"/>
            </a:pPr>
            <a:r>
              <a:rPr b="0" i="0" lang="ru-RU" spc="0" sz="16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Доступность – приложение работает в браузере любого смартфона.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600"/>
              <a:buFont typeface="Arial"/>
              <a:buChar char="●"/>
            </a:pPr>
            <a:r>
              <a:rPr b="0" i="0" lang="ru-RU" spc="0" sz="16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Масштабируемость – можно добавлять новые темы и уроки.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1"/>
          <p:cNvSpPr/>
          <p:nvPr/>
        </p:nvSpPr>
        <p:spPr>
          <a:xfrm>
            <a:off x="5682343" y="94309"/>
            <a:ext cx="3004457" cy="3072086"/>
          </a:xfrm>
          <a:prstGeom prst="roundRect">
            <a:avLst>
              <a:gd fmla="val 12687" name="adj"/>
            </a:avLst>
          </a:prstGeom>
          <a:gradFill>
            <a:gsLst>
              <a:gs pos="0">
                <a:srgbClr val="590D82"/>
              </a:gs>
              <a:gs pos="98000">
                <a:srgbClr val="0C056D"/>
              </a:gs>
              <a:gs pos="100000">
                <a:srgbClr val="0C056D"/>
              </a:gs>
            </a:gsLst>
            <a:lin ang="2700000" scaled="0"/>
          </a:gradFill>
          <a:ln cap="flat" cmpd="sng" w="9525">
            <a:solidFill>
              <a:srgbClr val="B61A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Вывод:</a:t>
            </a:r>
            <a:endParaRPr b="1" i="0" spc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Приложение “Поле” – это первый шаг подростка к программированию.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Оно совмещает мобильность, геймификацию и обучение – то, чего нет у аналогов.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Проект готов к развитию: новые темы, уровни.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9" name="Google Shape;709;p11"/>
          <p:cNvCxnSpPr/>
          <p:nvPr/>
        </p:nvCxnSpPr>
        <p:spPr>
          <a:xfrm flipH="1" rot="10800000">
            <a:off x="547807" y="816429"/>
            <a:ext cx="4350764" cy="21771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10" name="Google Shape;710;p11"/>
          <p:cNvSpPr/>
          <p:nvPr/>
        </p:nvSpPr>
        <p:spPr>
          <a:xfrm>
            <a:off x="5747656" y="3286138"/>
            <a:ext cx="2873830" cy="1776393"/>
          </a:xfrm>
          <a:prstGeom prst="roundRect">
            <a:avLst>
              <a:gd fmla="val 12687" name="adj"/>
            </a:avLst>
          </a:prstGeom>
          <a:gradFill>
            <a:gsLst>
              <a:gs pos="0">
                <a:srgbClr val="590D82"/>
              </a:gs>
              <a:gs pos="98000">
                <a:srgbClr val="0C056D"/>
              </a:gs>
              <a:gs pos="100000">
                <a:srgbClr val="0C056D"/>
              </a:gs>
            </a:gsLst>
            <a:lin ang="2700000" scaled="0"/>
          </a:gradFill>
          <a:ln cap="flat" cmpd="sng" w="9525">
            <a:solidFill>
              <a:srgbClr val="B61A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Связи:</a:t>
            </a:r>
            <a:br>
              <a:rPr b="1" i="0" lang="ru-RU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ru-RU" spc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Интеграция инженерии, информациоонных технологий, естественных наук и проектного мышления – через игровую практику.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1"/>
          <p:cNvSpPr/>
          <p:nvPr/>
        </p:nvSpPr>
        <p:spPr>
          <a:xfrm>
            <a:off x="67095" y="4398418"/>
            <a:ext cx="5615248" cy="108268"/>
          </a:xfrm>
          <a:prstGeom prst="roundRect">
            <a:avLst>
              <a:gd fmla="val 50000" name="adj"/>
            </a:avLst>
          </a:prstGeom>
          <a:solidFill>
            <a:srgbClr val="B3C6E7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2"/>
          <p:cNvSpPr/>
          <p:nvPr/>
        </p:nvSpPr>
        <p:spPr>
          <a:xfrm>
            <a:off x="409482" y="2827982"/>
            <a:ext cx="4914358" cy="674448"/>
          </a:xfrm>
          <a:prstGeom prst="roundRect">
            <a:avLst>
              <a:gd fmla="val 33488" name="adj"/>
            </a:avLst>
          </a:prstGeom>
          <a:solidFill>
            <a:srgbClr val="F2F2F2"/>
          </a:solidFill>
          <a:ln cap="flat" cmpd="sng" w="9525">
            <a:solidFill>
              <a:srgbClr val="B61A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Урок</a:t>
            </a:r>
            <a:endParaRPr b="1" i="0" spc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2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pc="0" sz="32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Вспомогательные элементы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2"/>
          <p:cNvSpPr/>
          <p:nvPr/>
        </p:nvSpPr>
        <p:spPr>
          <a:xfrm>
            <a:off x="409483" y="1134032"/>
            <a:ext cx="2110197" cy="1518709"/>
          </a:xfrm>
          <a:prstGeom prst="roundRect">
            <a:avLst>
              <a:gd fmla="val 15024" name="adj"/>
            </a:avLst>
          </a:prstGeom>
          <a:solidFill>
            <a:srgbClr val="F2F2F2"/>
          </a:solidFill>
          <a:ln cap="flat" cmpd="sng" w="9525">
            <a:solidFill>
              <a:srgbClr val="B61A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Стартовый экран</a:t>
            </a:r>
            <a:endParaRPr b="1" i="0" spc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2"/>
          <p:cNvSpPr/>
          <p:nvPr/>
        </p:nvSpPr>
        <p:spPr>
          <a:xfrm>
            <a:off x="3213643" y="1134033"/>
            <a:ext cx="2110197" cy="674448"/>
          </a:xfrm>
          <a:prstGeom prst="roundRect">
            <a:avLst>
              <a:gd fmla="val 33488" name="adj"/>
            </a:avLst>
          </a:prstGeom>
          <a:solidFill>
            <a:srgbClr val="F2F2F2"/>
          </a:solidFill>
          <a:ln cap="flat" cmpd="sng" w="9525">
            <a:solidFill>
              <a:srgbClr val="B61A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Экран “Как играть”</a:t>
            </a:r>
            <a:endParaRPr b="0" i="0" spc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2"/>
          <p:cNvSpPr/>
          <p:nvPr/>
        </p:nvSpPr>
        <p:spPr>
          <a:xfrm>
            <a:off x="2639511" y="1295400"/>
            <a:ext cx="488499" cy="345671"/>
          </a:xfrm>
          <a:prstGeom prst="rightArrow">
            <a:avLst>
              <a:gd fmla="val 15625" name="adj1"/>
              <a:gd fmla="val 50000" name="adj2"/>
            </a:avLst>
          </a:prstGeom>
          <a:solidFill>
            <a:srgbClr val="B61A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pc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2"/>
          <p:cNvSpPr/>
          <p:nvPr/>
        </p:nvSpPr>
        <p:spPr>
          <a:xfrm rot="5400000">
            <a:off x="1468699" y="3535922"/>
            <a:ext cx="325946" cy="345671"/>
          </a:xfrm>
          <a:prstGeom prst="rightArrow">
            <a:avLst>
              <a:gd fmla="val 15625" name="adj1"/>
              <a:gd fmla="val 50000" name="adj2"/>
            </a:avLst>
          </a:prstGeom>
          <a:solidFill>
            <a:srgbClr val="B61A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pc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2"/>
          <p:cNvSpPr/>
          <p:nvPr/>
        </p:nvSpPr>
        <p:spPr>
          <a:xfrm rot="5400000">
            <a:off x="3667044" y="3535923"/>
            <a:ext cx="325946" cy="345671"/>
          </a:xfrm>
          <a:prstGeom prst="rightArrow">
            <a:avLst>
              <a:gd fmla="val 15625" name="adj1"/>
              <a:gd fmla="val 50000" name="adj2"/>
            </a:avLst>
          </a:prstGeom>
          <a:solidFill>
            <a:srgbClr val="B61A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pc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2"/>
          <p:cNvSpPr/>
          <p:nvPr/>
        </p:nvSpPr>
        <p:spPr>
          <a:xfrm>
            <a:off x="409483" y="3915085"/>
            <a:ext cx="2110197" cy="674448"/>
          </a:xfrm>
          <a:prstGeom prst="roundRect">
            <a:avLst>
              <a:gd fmla="val 33488" name="adj"/>
            </a:avLst>
          </a:prstGeom>
          <a:solidFill>
            <a:srgbClr val="F2F2F2"/>
          </a:solidFill>
          <a:ln cap="flat" cmpd="sng" w="9525">
            <a:solidFill>
              <a:srgbClr val="B61A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Звёзды, прогресс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2"/>
          <p:cNvSpPr/>
          <p:nvPr/>
        </p:nvSpPr>
        <p:spPr>
          <a:xfrm>
            <a:off x="3213643" y="3915085"/>
            <a:ext cx="2110197" cy="674448"/>
          </a:xfrm>
          <a:prstGeom prst="roundRect">
            <a:avLst>
              <a:gd fmla="val 33488" name="adj"/>
            </a:avLst>
          </a:prstGeom>
          <a:solidFill>
            <a:srgbClr val="F2F2F2"/>
          </a:solidFill>
          <a:ln cap="flat" cmpd="sng" w="9525">
            <a:solidFill>
              <a:srgbClr val="B61A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Награды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2"/>
          <p:cNvSpPr/>
          <p:nvPr/>
        </p:nvSpPr>
        <p:spPr>
          <a:xfrm>
            <a:off x="3213643" y="1978294"/>
            <a:ext cx="2110197" cy="674448"/>
          </a:xfrm>
          <a:prstGeom prst="roundRect">
            <a:avLst>
              <a:gd fmla="val 33488" name="adj"/>
            </a:avLst>
          </a:prstGeom>
          <a:solidFill>
            <a:srgbClr val="F2F2F2"/>
          </a:solidFill>
          <a:ln cap="flat" cmpd="sng" w="9525">
            <a:solidFill>
              <a:srgbClr val="B61A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Первый урок</a:t>
            </a:r>
            <a:endParaRPr/>
          </a:p>
        </p:txBody>
      </p:sp>
      <p:sp>
        <p:nvSpPr>
          <p:cNvPr id="726" name="Google Shape;726;p12"/>
          <p:cNvSpPr/>
          <p:nvPr/>
        </p:nvSpPr>
        <p:spPr>
          <a:xfrm>
            <a:off x="2639511" y="2139661"/>
            <a:ext cx="488499" cy="345671"/>
          </a:xfrm>
          <a:prstGeom prst="rightArrow">
            <a:avLst>
              <a:gd fmla="val 15625" name="adj1"/>
              <a:gd fmla="val 50000" name="adj2"/>
            </a:avLst>
          </a:prstGeom>
          <a:solidFill>
            <a:srgbClr val="B61A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pc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2"/>
          <p:cNvSpPr/>
          <p:nvPr/>
        </p:nvSpPr>
        <p:spPr>
          <a:xfrm>
            <a:off x="6017803" y="1134033"/>
            <a:ext cx="2110197" cy="674448"/>
          </a:xfrm>
          <a:prstGeom prst="roundRect">
            <a:avLst>
              <a:gd fmla="val 33488" name="adj"/>
            </a:avLst>
          </a:prstGeom>
          <a:solidFill>
            <a:srgbClr val="F25D9C"/>
          </a:solidFill>
          <a:ln cap="flat" cmpd="sng" w="9525">
            <a:solidFill>
              <a:srgbClr val="B61A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Урок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2"/>
          <p:cNvSpPr/>
          <p:nvPr/>
        </p:nvSpPr>
        <p:spPr>
          <a:xfrm rot="5400000">
            <a:off x="6909927" y="1850860"/>
            <a:ext cx="325946" cy="345671"/>
          </a:xfrm>
          <a:prstGeom prst="rightArrow">
            <a:avLst>
              <a:gd fmla="val 15625" name="adj1"/>
              <a:gd fmla="val 50000" name="adj2"/>
            </a:avLst>
          </a:prstGeom>
          <a:solidFill>
            <a:srgbClr val="B61A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pc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2"/>
          <p:cNvSpPr/>
          <p:nvPr/>
        </p:nvSpPr>
        <p:spPr>
          <a:xfrm>
            <a:off x="6017803" y="2234526"/>
            <a:ext cx="2110197" cy="674448"/>
          </a:xfrm>
          <a:prstGeom prst="roundRect">
            <a:avLst>
              <a:gd fmla="val 33488" name="adj"/>
            </a:avLst>
          </a:prstGeom>
          <a:solidFill>
            <a:srgbClr val="F25D9C"/>
          </a:solidFill>
          <a:ln cap="flat" cmpd="sng" w="9525">
            <a:solidFill>
              <a:srgbClr val="B61A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Пропуск урока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12"/>
          <p:cNvSpPr/>
          <p:nvPr/>
        </p:nvSpPr>
        <p:spPr>
          <a:xfrm rot="5400000">
            <a:off x="6909927" y="2951353"/>
            <a:ext cx="325946" cy="345671"/>
          </a:xfrm>
          <a:prstGeom prst="rightArrow">
            <a:avLst>
              <a:gd fmla="val 15625" name="adj1"/>
              <a:gd fmla="val 50000" name="adj2"/>
            </a:avLst>
          </a:prstGeom>
          <a:solidFill>
            <a:srgbClr val="B61A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pc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2"/>
          <p:cNvSpPr/>
          <p:nvPr/>
        </p:nvSpPr>
        <p:spPr>
          <a:xfrm>
            <a:off x="6017801" y="3335019"/>
            <a:ext cx="2110197" cy="674448"/>
          </a:xfrm>
          <a:prstGeom prst="roundRect">
            <a:avLst>
              <a:gd fmla="val 33488" name="adj"/>
            </a:avLst>
          </a:prstGeom>
          <a:solidFill>
            <a:srgbClr val="B61AAE"/>
          </a:solidFill>
          <a:ln cap="flat" cmpd="sng" w="9525">
            <a:solidFill>
              <a:srgbClr val="B61A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Обнуление прогресса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2" name="Google Shape;732;p12"/>
          <p:cNvCxnSpPr/>
          <p:nvPr/>
        </p:nvCxnSpPr>
        <p:spPr>
          <a:xfrm flipH="1" rot="10800000">
            <a:off x="547807" y="827314"/>
            <a:ext cx="5765907" cy="10887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3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pc="0" sz="32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Вспомогательные элементы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3"/>
          <p:cNvSpPr/>
          <p:nvPr/>
        </p:nvSpPr>
        <p:spPr>
          <a:xfrm>
            <a:off x="5304292" y="1367961"/>
            <a:ext cx="3420607" cy="1115985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13"/>
          <p:cNvSpPr/>
          <p:nvPr/>
        </p:nvSpPr>
        <p:spPr>
          <a:xfrm>
            <a:off x="436586" y="1265256"/>
            <a:ext cx="4217243" cy="1291591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1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Дух</a:t>
            </a: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 – наставник, который ведёт игрока.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1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5 жизней </a:t>
            </a: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– механика перерождения.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1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Звёзды</a:t>
            </a: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 – отображение прогресса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1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Награды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1400"/>
              <a:buFont typeface="Arial"/>
              <a:buChar char="●"/>
            </a:pPr>
            <a:r>
              <a:rPr b="1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Подсказки</a:t>
            </a:r>
            <a:r>
              <a:rPr b="0" i="0" lang="ru-RU" spc="0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 – после 3 ошибок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ru-RU" spc="0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ТЕХНОЛОГИИ: HTML, CSS, JavaScript, PWA</a:t>
            </a:r>
            <a:endParaRPr b="1" i="0" spc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0" name="Google Shape;740;p13"/>
          <p:cNvCxnSpPr/>
          <p:nvPr/>
        </p:nvCxnSpPr>
        <p:spPr>
          <a:xfrm flipH="1" rot="10800000">
            <a:off x="547807" y="838200"/>
            <a:ext cx="5776793" cy="1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41" name="Google Shape;741;p13"/>
          <p:cNvSpPr/>
          <p:nvPr/>
        </p:nvSpPr>
        <p:spPr>
          <a:xfrm>
            <a:off x="4618132" y="1172819"/>
            <a:ext cx="4411272" cy="674448"/>
          </a:xfrm>
          <a:prstGeom prst="roundRect">
            <a:avLst>
              <a:gd fmla="val 33488" name="adj"/>
            </a:avLst>
          </a:prstGeom>
          <a:solidFill>
            <a:srgbClr val="F2F2F2"/>
          </a:solidFill>
          <a:ln cap="flat" cmpd="sng" w="9525">
            <a:solidFill>
              <a:srgbClr val="B61A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Урок 1       Урок 2       Урок 3 </a:t>
            </a:r>
            <a:endParaRPr b="1" i="0" spc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3"/>
          <p:cNvSpPr/>
          <p:nvPr/>
        </p:nvSpPr>
        <p:spPr>
          <a:xfrm rot="5400000">
            <a:off x="7811330" y="1921599"/>
            <a:ext cx="325946" cy="345671"/>
          </a:xfrm>
          <a:prstGeom prst="rightArrow">
            <a:avLst>
              <a:gd fmla="val 15625" name="adj1"/>
              <a:gd fmla="val 50000" name="adj2"/>
            </a:avLst>
          </a:prstGeom>
          <a:solidFill>
            <a:srgbClr val="B61A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pc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13"/>
          <p:cNvSpPr/>
          <p:nvPr/>
        </p:nvSpPr>
        <p:spPr>
          <a:xfrm>
            <a:off x="4618132" y="2290637"/>
            <a:ext cx="2110197" cy="674448"/>
          </a:xfrm>
          <a:prstGeom prst="roundRect">
            <a:avLst>
              <a:gd fmla="val 33488" name="adj"/>
            </a:avLst>
          </a:prstGeom>
          <a:solidFill>
            <a:srgbClr val="F2F2F2"/>
          </a:solidFill>
          <a:ln cap="flat" cmpd="sng" w="9525">
            <a:solidFill>
              <a:srgbClr val="B61A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Итоговый экран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3"/>
          <p:cNvSpPr/>
          <p:nvPr/>
        </p:nvSpPr>
        <p:spPr>
          <a:xfrm>
            <a:off x="6919206" y="2300763"/>
            <a:ext cx="2110197" cy="674448"/>
          </a:xfrm>
          <a:prstGeom prst="roundRect">
            <a:avLst>
              <a:gd fmla="val 33488" name="adj"/>
            </a:avLst>
          </a:prstGeom>
          <a:solidFill>
            <a:srgbClr val="F2F2F2"/>
          </a:solidFill>
          <a:ln cap="flat" cmpd="sng" w="9525">
            <a:solidFill>
              <a:srgbClr val="B61A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pc="0" sz="14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Возврат к урокам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3"/>
          <p:cNvSpPr/>
          <p:nvPr/>
        </p:nvSpPr>
        <p:spPr>
          <a:xfrm rot="5400000">
            <a:off x="5528105" y="1921600"/>
            <a:ext cx="325946" cy="345671"/>
          </a:xfrm>
          <a:prstGeom prst="rightArrow">
            <a:avLst>
              <a:gd fmla="val 15625" name="adj1"/>
              <a:gd fmla="val 50000" name="adj2"/>
            </a:avLst>
          </a:prstGeom>
          <a:solidFill>
            <a:srgbClr val="B61A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pc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3"/>
          <p:cNvSpPr/>
          <p:nvPr/>
        </p:nvSpPr>
        <p:spPr>
          <a:xfrm>
            <a:off x="6270171" y="1443806"/>
            <a:ext cx="236603" cy="188370"/>
          </a:xfrm>
          <a:prstGeom prst="rightArrow">
            <a:avLst>
              <a:gd fmla="val 15625" name="adj1"/>
              <a:gd fmla="val 50000" name="adj2"/>
            </a:avLst>
          </a:prstGeom>
          <a:solidFill>
            <a:srgbClr val="B61A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pc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13"/>
          <p:cNvSpPr/>
          <p:nvPr/>
        </p:nvSpPr>
        <p:spPr>
          <a:xfrm>
            <a:off x="7157237" y="1415858"/>
            <a:ext cx="236603" cy="188370"/>
          </a:xfrm>
          <a:prstGeom prst="rightArrow">
            <a:avLst>
              <a:gd fmla="val 15625" name="adj1"/>
              <a:gd fmla="val 50000" name="adj2"/>
            </a:avLst>
          </a:prstGeom>
          <a:solidFill>
            <a:srgbClr val="B61A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pc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8" name="Google Shape;7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972" y="2927315"/>
            <a:ext cx="3259894" cy="1978059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13"/>
          <p:cNvSpPr/>
          <p:nvPr/>
        </p:nvSpPr>
        <p:spPr>
          <a:xfrm>
            <a:off x="3548743" y="3698629"/>
            <a:ext cx="1861478" cy="435429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0" name="Google Shape;75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0971" y="2937442"/>
            <a:ext cx="4336423" cy="223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Игнатов Николай Николаевич</dc:creator>
</cp:coreProperties>
</file>